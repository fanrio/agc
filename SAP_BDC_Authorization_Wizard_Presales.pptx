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0" r:id="rId3"/>
    <p:sldId id="265" r:id="rId4"/>
    <p:sldId id="257" r:id="rId5"/>
    <p:sldId id="268" r:id="rId6"/>
    <p:sldId id="258" r:id="rId7"/>
    <p:sldId id="281" r:id="rId8"/>
    <p:sldId id="259" r:id="rId9"/>
    <p:sldId id="260" r:id="rId10"/>
    <p:sldId id="261" r:id="rId11"/>
    <p:sldId id="273" r:id="rId12"/>
    <p:sldId id="276" r:id="rId13"/>
    <p:sldId id="262" r:id="rId14"/>
    <p:sldId id="277" r:id="rId15"/>
    <p:sldId id="274" r:id="rId16"/>
    <p:sldId id="278" r:id="rId17"/>
    <p:sldId id="275" r:id="rId18"/>
    <p:sldId id="279" r:id="rId19"/>
    <p:sldId id="263" r:id="rId20"/>
    <p:sldId id="264" r:id="rId21"/>
    <p:sldId id="266" r:id="rId22"/>
    <p:sldId id="26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736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786A-91E1-100F-DBB3-9511BD51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F2350-B455-AF03-680D-2859120A5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AAE15-09E6-EDE1-A193-F17EF7BC8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AF11B-1FE3-E6AC-BC11-F14B6009F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1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47C25-195C-F522-0A3E-3643B55AF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98D11-41D0-1601-646B-9FF42EE8B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93A10-DC86-457D-137B-510F033A8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675D0-F415-9F69-BC83-7D00CBEF34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08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BDFB7-03ED-7C20-506A-E06B296F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82291-23A3-8488-DDB2-78DDD4D57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3B422-B5BA-39D4-456E-EA46B5399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52A56-7778-4E2E-204A-AD00E630A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07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A9B2-F02A-5842-EDF6-832C8ED9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76EBD-8FFD-CA67-8DA3-0E83193D0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2F3AA-4DA2-6338-D2E2-CD0D47216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E6728-C1D2-E799-A560-1EF540694B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62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18EB-E8EC-824B-C834-35F4929EA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16D69-861E-16E4-7076-C2D8E34A4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5F4DB-EB7A-248B-9C9A-046B12055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8A333-5025-06FF-4312-446AF5C49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15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B981C-E6BD-9C49-BD12-666DE2B4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63E45-3D99-3213-2A3E-D8D26ECD4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CC891-D6F7-D855-6C6E-2E4159AB1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323DB-3DFB-B797-8441-D691D7CDDE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23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38BDC-3A89-8D81-3F88-BEF20E00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8E812-857D-F013-FBEC-A086D069F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8613D-A231-87AC-EA66-B257AC7AB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657A7-0204-5E27-0B97-32D1B677B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64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D3DFF-B581-E9C5-CAF2-58D11049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EAA48-45C9-F354-D037-611FEF55C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73CF4-CF1C-C158-8567-178B35F28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B8254-3D7A-7C55-A20E-BEB103A22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54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8040A-F0C1-5AA4-0498-44E0ADBAC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A2FFF-4D3A-3639-D525-47B856570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128C1-5BA7-3CF9-F8F1-3DEB7C17A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4549A-411B-4ACF-B844-4EE619744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7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1000logos.net/haribo-logo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937760" cy="4937760"/>
          </a:xfrm>
          <a:prstGeom prst="ellipse">
            <a:avLst/>
          </a:prstGeom>
          <a:solidFill>
            <a:srgbClr val="2E3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Row-Level Security, Simplified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platform for building, testing, and synchronizing role-based data access in SAP BDC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Overview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C8B9-8FBD-B939-D964-986BEF85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D47F29-0C3B-2639-365D-1835A51DBD50}"/>
              </a:ext>
            </a:extLst>
          </p:cNvPr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 Control 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17ECCF-F9F1-21C8-0287-049EC6E436A6}"/>
              </a:ext>
            </a:extLst>
          </p:cNvPr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de-DE" sz="140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</a:t>
            </a:r>
            <a:r>
              <a:rPr lang="de-DE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-level </a:t>
            </a:r>
            <a:r>
              <a:rPr lang="de-DE" sz="140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r>
              <a:rPr lang="de-DE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40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de-DE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40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r>
              <a:rPr lang="de-DE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DE" sz="1400" dirty="0" err="1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r>
              <a:rPr lang="de-DE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SAP BDC</a:t>
            </a:r>
            <a:endParaRPr lang="en-US" sz="14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30CCDEB1-BA80-72AA-53F0-CFD8A924022E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561753F2-BFF8-CED3-B4DB-680D702A944B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DB0E7DD-7CEB-74D5-5837-05C049335F1F}"/>
              </a:ext>
            </a:extLst>
          </p:cNvPr>
          <p:cNvSpPr txBox="1"/>
          <p:nvPr/>
        </p:nvSpPr>
        <p:spPr>
          <a:xfrm>
            <a:off x="548641" y="1596164"/>
            <a:ext cx="59445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Data Access Controls </a:t>
            </a:r>
            <a:r>
              <a:rPr lang="de-DE" b="1" dirty="0" err="1"/>
              <a:t>enable</a:t>
            </a:r>
            <a:r>
              <a:rPr lang="de-DE" b="1" dirty="0"/>
              <a:t> </a:t>
            </a:r>
            <a:r>
              <a:rPr lang="de-DE" b="1" dirty="0" err="1"/>
              <a:t>row</a:t>
            </a:r>
            <a:r>
              <a:rPr lang="de-DE" b="1" dirty="0"/>
              <a:t>-level </a:t>
            </a:r>
            <a:r>
              <a:rPr lang="de-DE" b="1" dirty="0" err="1"/>
              <a:t>security</a:t>
            </a:r>
            <a:r>
              <a:rPr lang="de-DE" b="1" dirty="0"/>
              <a:t> </a:t>
            </a:r>
            <a:r>
              <a:rPr lang="de-DE" b="1" dirty="0" err="1"/>
              <a:t>by</a:t>
            </a:r>
            <a:r>
              <a:rPr lang="de-DE" b="1" dirty="0"/>
              <a:t> </a:t>
            </a:r>
            <a:r>
              <a:rPr lang="de-DE" b="1" dirty="0" err="1"/>
              <a:t>controlling</a:t>
            </a:r>
            <a:r>
              <a:rPr lang="de-DE" b="1" dirty="0"/>
              <a:t> </a:t>
            </a:r>
            <a:r>
              <a:rPr lang="de-DE" b="1" dirty="0" err="1"/>
              <a:t>which</a:t>
            </a:r>
            <a:r>
              <a:rPr lang="de-DE" b="1" dirty="0"/>
              <a:t> </a:t>
            </a:r>
            <a:r>
              <a:rPr lang="de-DE" b="1" dirty="0" err="1"/>
              <a:t>data</a:t>
            </a:r>
            <a:r>
              <a:rPr lang="de-DE" b="1" dirty="0"/>
              <a:t> </a:t>
            </a:r>
            <a:r>
              <a:rPr lang="de-DE" b="1" dirty="0" err="1"/>
              <a:t>users</a:t>
            </a:r>
            <a:r>
              <a:rPr lang="de-DE" b="1" dirty="0"/>
              <a:t> </a:t>
            </a:r>
            <a:r>
              <a:rPr lang="de-DE" b="1" dirty="0" err="1"/>
              <a:t>can</a:t>
            </a:r>
            <a:r>
              <a:rPr lang="de-DE" b="1" dirty="0"/>
              <a:t> </a:t>
            </a:r>
            <a:r>
              <a:rPr lang="de-DE" b="1" dirty="0" err="1"/>
              <a:t>access</a:t>
            </a:r>
            <a:r>
              <a:rPr lang="de-DE" b="1" dirty="0"/>
              <a:t>.</a:t>
            </a:r>
            <a:endParaRPr lang="de-DE" dirty="0"/>
          </a:p>
          <a:p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applied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 </a:t>
            </a:r>
            <a:r>
              <a:rPr lang="de-DE" dirty="0" err="1"/>
              <a:t>view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business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,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dynamically</a:t>
            </a:r>
            <a:r>
              <a:rPr lang="de-DE" dirty="0"/>
              <a:t> </a:t>
            </a:r>
            <a:r>
              <a:rPr lang="de-DE" dirty="0" err="1"/>
              <a:t>filtered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predefined</a:t>
            </a:r>
            <a:r>
              <a:rPr lang="de-DE" dirty="0"/>
              <a:t> </a:t>
            </a:r>
            <a:r>
              <a:rPr lang="de-DE" dirty="0" err="1"/>
              <a:t>security</a:t>
            </a:r>
            <a:r>
              <a:rPr lang="de-DE" dirty="0"/>
              <a:t> </a:t>
            </a:r>
            <a:r>
              <a:rPr lang="de-DE" dirty="0" err="1"/>
              <a:t>criteria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b="1" dirty="0"/>
              <a:t>The </a:t>
            </a:r>
            <a:r>
              <a:rPr lang="de-DE" b="1" dirty="0" err="1"/>
              <a:t>foundation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this</a:t>
            </a:r>
            <a:r>
              <a:rPr lang="de-DE" b="1" dirty="0"/>
              <a:t> </a:t>
            </a:r>
            <a:r>
              <a:rPr lang="de-DE" b="1" dirty="0" err="1"/>
              <a:t>approach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Permission Table/View</a:t>
            </a:r>
            <a:r>
              <a:rPr lang="de-DE" dirty="0"/>
              <a:t> —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stores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rules</a:t>
            </a:r>
            <a:r>
              <a:rPr lang="de-DE" dirty="0"/>
              <a:t> and </a:t>
            </a:r>
            <a:r>
              <a:rPr lang="de-DE" dirty="0" err="1"/>
              <a:t>restriction</a:t>
            </a:r>
            <a:r>
              <a:rPr lang="de-DE" dirty="0"/>
              <a:t>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determine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.</a:t>
            </a:r>
          </a:p>
          <a:p>
            <a:endParaRPr lang="de-DE" dirty="0"/>
          </a:p>
          <a:p>
            <a:endParaRPr lang="de-DE" b="1" dirty="0">
              <a:solidFill>
                <a:srgbClr val="1E2761"/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Key Question:</a:t>
            </a:r>
          </a:p>
          <a:p>
            <a:b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</a:b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How do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we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effectively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maintain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and manage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the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records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in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permission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tables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/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views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to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ensure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accurate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and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governed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data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de-DE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access</a:t>
            </a:r>
            <a:r>
              <a:rPr lang="de-DE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?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68EAE911-0FE3-6B2E-FC3D-3269F3875F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26878"/>
          <a:stretch>
            <a:fillRect/>
          </a:stretch>
        </p:blipFill>
        <p:spPr>
          <a:xfrm>
            <a:off x="6760657" y="1688497"/>
            <a:ext cx="5035103" cy="3433036"/>
          </a:xfrm>
          <a:prstGeom prst="rect">
            <a:avLst/>
          </a:prstGeom>
        </p:spPr>
      </p:pic>
      <p:pic>
        <p:nvPicPr>
          <p:cNvPr id="27" name="Grafik 26" descr="Marke Fragezeichen mit einfarbiger Füllung">
            <a:extLst>
              <a:ext uri="{FF2B5EF4-FFF2-40B4-BE49-F238E27FC236}">
                <a16:creationId xmlns:a16="http://schemas.microsoft.com/office/drawing/2014/main" id="{900C8184-D258-C405-1C44-78A902CFE1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5751" y="4043795"/>
            <a:ext cx="402936" cy="402936"/>
          </a:xfrm>
          <a:prstGeom prst="rect">
            <a:avLst/>
          </a:prstGeom>
        </p:spPr>
      </p:pic>
      <p:pic>
        <p:nvPicPr>
          <p:cNvPr id="29" name="Grafik 28" descr="Fragen mit einfarbiger Füllung">
            <a:extLst>
              <a:ext uri="{FF2B5EF4-FFF2-40B4-BE49-F238E27FC236}">
                <a16:creationId xmlns:a16="http://schemas.microsoft.com/office/drawing/2014/main" id="{0801C4E4-5E91-599A-33C7-4E3D934FCF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9056" y="4629588"/>
            <a:ext cx="491945" cy="49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6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Strategies to Populate Permission Tables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paths to keep row-level authorizations current — trade-offs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167335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/home/claude/deck/icon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7876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367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Maintenance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1732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Builder / CSV Upload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679192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build required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manual control for one-off or ad-hoc changes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without a live source-system connection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41879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4489704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Labor-intensive at scale; slow to update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human error and inconsistent formatting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link to source-of-truth ownership data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141732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4526280" y="167335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1" descr="/home/claude/deck/icon_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178765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66360" y="16367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Synchronization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516636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or SAP BW Role Sync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526280" y="2377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26280" y="2679192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existing S/4 or BW role investments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governance model for SAP security teams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where org already standardized on PFCG/BW roles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26280" y="41879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26280" y="4489704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 granularity — not built for row-level filters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to keep aligned; drift risk over time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mapping layer needed to translate roles into restrictions</a:t>
            </a:r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for cloud-only or Non-SAP dimensions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C97E6988-B35D-BBAB-232B-995BB406D139}"/>
              </a:ext>
            </a:extLst>
          </p:cNvPr>
          <p:cNvSpPr/>
          <p:nvPr/>
        </p:nvSpPr>
        <p:spPr>
          <a:xfrm>
            <a:off x="8001000" y="1348740"/>
            <a:ext cx="3611880" cy="48920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1554A15C-9219-E908-88E5-622EB5EB67AF}"/>
              </a:ext>
            </a:extLst>
          </p:cNvPr>
          <p:cNvSpPr/>
          <p:nvPr/>
        </p:nvSpPr>
        <p:spPr>
          <a:xfrm>
            <a:off x="8275320" y="167335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D1276922-E212-C173-34D9-0C4FF6FCDAB3}"/>
              </a:ext>
            </a:extLst>
          </p:cNvPr>
          <p:cNvSpPr/>
          <p:nvPr/>
        </p:nvSpPr>
        <p:spPr>
          <a:xfrm>
            <a:off x="8915400" y="16367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name split </a:t>
            </a:r>
            <a:endParaRPr lang="en-US" sz="155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53CD110C-8C2A-134E-2718-88C9875FF956}"/>
              </a:ext>
            </a:extLst>
          </p:cNvPr>
          <p:cNvSpPr/>
          <p:nvPr/>
        </p:nvSpPr>
        <p:spPr>
          <a:xfrm>
            <a:off x="891540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Haribo - Way</a:t>
            </a:r>
            <a:endParaRPr lang="en-US" sz="105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0FFB4737-5CA5-6469-BC88-16DAA993A713}"/>
              </a:ext>
            </a:extLst>
          </p:cNvPr>
          <p:cNvSpPr/>
          <p:nvPr/>
        </p:nvSpPr>
        <p:spPr>
          <a:xfrm>
            <a:off x="8275320" y="2377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5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841E50AC-EAC6-E032-C3E1-405381B2679A}"/>
              </a:ext>
            </a:extLst>
          </p:cNvPr>
          <p:cNvSpPr/>
          <p:nvPr/>
        </p:nvSpPr>
        <p:spPr>
          <a:xfrm>
            <a:off x="8275320" y="2679192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mapping table needed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the approvement process in GRC</a:t>
            </a:r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/>
              <a:t>Clear visibility about data access restriction </a:t>
            </a:r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endParaRPr lang="en-US" sz="1050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C7957381-A1B6-A848-C543-6F3473345D19}"/>
              </a:ext>
            </a:extLst>
          </p:cNvPr>
          <p:cNvSpPr/>
          <p:nvPr/>
        </p:nvSpPr>
        <p:spPr>
          <a:xfrm>
            <a:off x="8275320" y="41879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05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A3CBC1FC-8B3E-1FDC-18AE-59EB4C120ECC}"/>
              </a:ext>
            </a:extLst>
          </p:cNvPr>
          <p:cNvSpPr/>
          <p:nvPr/>
        </p:nvSpPr>
        <p:spPr>
          <a:xfrm>
            <a:off x="8275320" y="4489704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 granularity — not built for row-level filters (e.g. cost center authorization)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dependency on perfect naming conventions</a:t>
            </a:r>
          </a:p>
          <a:p>
            <a:pPr marL="342900" indent="-342900">
              <a:spcAft>
                <a:spcPts val="400"/>
              </a:spcAft>
              <a:buSzPct val="100000"/>
              <a:buChar char="✗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procedure for a complex rules (e.g. DEHO)</a:t>
            </a:r>
          </a:p>
        </p:txBody>
      </p:sp>
      <p:pic>
        <p:nvPicPr>
          <p:cNvPr id="58" name="Grafik 57">
            <a:extLst>
              <a:ext uri="{FF2B5EF4-FFF2-40B4-BE49-F238E27FC236}">
                <a16:creationId xmlns:a16="http://schemas.microsoft.com/office/drawing/2014/main" id="{846CF007-8574-FF82-868A-D41BC4F409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155940" y="1728216"/>
            <a:ext cx="6502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database-level row security doesn't scale with the enterprise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408176" y="201168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/home/claude/deck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21762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&amp; Error-Prone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row-level permissions directly in the database is manual, hard to repeat, and easy to get wrong.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4151376" y="201168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/home/claude/deck/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17627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 to Audit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930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 trail, proving who changed what — and why — becomes a compliance risk.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6894576" y="201168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/home/claude/deck/icon_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217627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96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IT Bottleneck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362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plant, region, or customer segment needs a new role, queued behind a central security team.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778240" y="1691640"/>
            <a:ext cx="2487168" cy="44805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9637776" y="201168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/home/claude/deck/icon_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68" y="217627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42832" y="301752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Sync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79408" y="3566160"/>
            <a:ext cx="20848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SAP HANA and Datasphere authorizations aligned with source systems is a constant, brittle chore.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1874-DD1F-661D-88F6-D19BD4BFB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5AF53D-8D05-A06F-3C62-4AE76A7678A8}"/>
              </a:ext>
            </a:extLst>
          </p:cNvPr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Authorization</a:t>
            </a:r>
            <a:r>
              <a:rPr lang="de-DE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de-DE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Governance</a:t>
            </a:r>
            <a:r>
              <a:rPr lang="de-DE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Center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6D962E-7DE2-B28A-385C-6A1373FAD2B4}"/>
              </a:ext>
            </a:extLst>
          </p:cNvPr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paths to handle row-level authorizations</a:t>
            </a:r>
            <a:endParaRPr lang="en-US" sz="14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9BD9B251-74D1-81C3-ADE6-13D2809BC360}"/>
              </a:ext>
            </a:extLst>
          </p:cNvPr>
          <p:cNvSpPr/>
          <p:nvPr/>
        </p:nvSpPr>
        <p:spPr>
          <a:xfrm>
            <a:off x="701964" y="1616364"/>
            <a:ext cx="10728036" cy="43681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endParaRPr lang="en-US" sz="105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C05AFB95-7B97-21DA-1634-AEC23C14EA45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E1397ECA-5EF9-B7B7-5FD5-0BA0D8AFFC86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D53355FB-D462-4632-012A-096DAC2AF822}"/>
              </a:ext>
            </a:extLst>
          </p:cNvPr>
          <p:cNvSpPr txBox="1"/>
          <p:nvPr/>
        </p:nvSpPr>
        <p:spPr>
          <a:xfrm>
            <a:off x="637309" y="1504463"/>
            <a:ext cx="10113818" cy="4408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 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entralized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self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-service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governance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platform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that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replaces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complex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database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script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queues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with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a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guided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interface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to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create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validate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and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synchronize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row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-level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raw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-level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restriction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in SAP BDC</a:t>
            </a:r>
          </a:p>
          <a:p>
            <a:pPr marL="0" marR="0" indent="0" algn="l">
              <a:buNone/>
            </a:pPr>
            <a:endParaRPr lang="de-DE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🛡️ </a:t>
            </a:r>
            <a:r>
              <a:rPr lang="de-DE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Decentralized</a:t>
            </a:r>
            <a:r>
              <a:rPr lang="de-DE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Self-Service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Enables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local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business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administrators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to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safely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build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and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assign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localized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access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rules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(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derived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child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roles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)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under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template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structures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maintained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by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central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IT.</a:t>
            </a:r>
          </a:p>
          <a:p>
            <a:pPr indent="0" algn="l">
              <a:buFont typeface="Arial" panose="020B0604020202020204" pitchFamily="34" charset="0"/>
              <a:buChar char="•"/>
            </a:pPr>
            <a:endParaRPr lang="de-DE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⚡ </a:t>
            </a:r>
            <a:r>
              <a:rPr lang="de-DE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High-Performance Query Isolation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Segregates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permissions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into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stream-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specific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namespaced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database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tables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This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prevents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single-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table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database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bottlenecks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and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isolates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different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access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scopes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(such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Sales Reporting vs.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Planning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).</a:t>
            </a:r>
          </a:p>
          <a:p>
            <a:pPr indent="0" algn="l">
              <a:buFont typeface="Arial" panose="020B0604020202020204" pitchFamily="34" charset="0"/>
              <a:buChar char="•"/>
            </a:pPr>
            <a:endParaRPr lang="de-DE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🤖 </a:t>
            </a:r>
            <a:r>
              <a:rPr lang="de-DE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DRAGE Automation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Auto-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generates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roles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and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maps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user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assignments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directly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from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ownership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fields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in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master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data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assets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indent="0" algn="l">
              <a:buFont typeface="Arial" panose="020B0604020202020204" pitchFamily="34" charset="0"/>
              <a:buChar char="•"/>
            </a:pPr>
            <a:endParaRPr lang="de-DE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🔍 </a:t>
            </a:r>
            <a:r>
              <a:rPr lang="de-DE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Audit</a:t>
            </a:r>
            <a:r>
              <a:rPr lang="de-DE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Automatic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Activity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Tracking Every time a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role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modified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created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or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assigned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to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employee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system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logs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activity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automatically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No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spreadsheets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or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manual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records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are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needed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indent="0" algn="l">
              <a:buFont typeface="Arial" panose="020B0604020202020204" pitchFamily="34" charset="0"/>
              <a:buChar char="•"/>
            </a:pPr>
            <a:endParaRPr lang="de-DE" sz="105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5129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Layers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front end, a governed engine, and native replication into your SAP BDC Landscape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22960" y="1892808"/>
            <a:ext cx="1920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2075688"/>
            <a:ext cx="2034540" cy="786384"/>
          </a:xfrm>
          <a:prstGeom prst="roundRect">
            <a:avLst>
              <a:gd name="adj" fmla="val 6977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816352" y="2075688"/>
            <a:ext cx="18882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0620" y="2075688"/>
            <a:ext cx="2034540" cy="786384"/>
          </a:xfrm>
          <a:prstGeom prst="roundRect">
            <a:avLst>
              <a:gd name="adj" fmla="val 6977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033772" y="2075688"/>
            <a:ext cx="18882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Wizard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2075688"/>
            <a:ext cx="2034540" cy="786384"/>
          </a:xfrm>
          <a:prstGeom prst="roundRect">
            <a:avLst>
              <a:gd name="adj" fmla="val 6977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251192" y="2075688"/>
            <a:ext cx="18882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Manager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95460" y="2075688"/>
            <a:ext cx="2034540" cy="786384"/>
          </a:xfrm>
          <a:prstGeom prst="roundRect">
            <a:avLst>
              <a:gd name="adj" fmla="val 6977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468612" y="2075688"/>
            <a:ext cx="18882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Tracker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1920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3703320"/>
            <a:ext cx="2034540" cy="786384"/>
          </a:xfrm>
          <a:prstGeom prst="roundRect">
            <a:avLst>
              <a:gd name="adj" fmla="val 69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2816352" y="3703320"/>
            <a:ext cx="18882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0620" y="3703320"/>
            <a:ext cx="2034540" cy="786384"/>
          </a:xfrm>
          <a:prstGeom prst="roundRect">
            <a:avLst>
              <a:gd name="adj" fmla="val 69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033772" y="3703320"/>
            <a:ext cx="18882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Restriction Resolver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3703320"/>
            <a:ext cx="2034540" cy="786384"/>
          </a:xfrm>
          <a:prstGeom prst="roundRect">
            <a:avLst>
              <a:gd name="adj" fmla="val 69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251192" y="3703320"/>
            <a:ext cx="18882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Role Generator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95460" y="3703320"/>
            <a:ext cx="2034540" cy="786384"/>
          </a:xfrm>
          <a:prstGeom prst="roundRect">
            <a:avLst>
              <a:gd name="adj" fmla="val 69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9468612" y="3703320"/>
            <a:ext cx="18882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DRAGE Sync Engine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38344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2E3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22960" y="5148072"/>
            <a:ext cx="1920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21015" y="5330952"/>
            <a:ext cx="2773680" cy="786384"/>
          </a:xfrm>
          <a:prstGeom prst="roundRect">
            <a:avLst>
              <a:gd name="adj" fmla="val 69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294167" y="5330952"/>
            <a:ext cx="262737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HANA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77575" y="5330952"/>
            <a:ext cx="2773680" cy="786384"/>
          </a:xfrm>
          <a:prstGeom prst="roundRect">
            <a:avLst>
              <a:gd name="adj" fmla="val 697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7250727" y="5330952"/>
            <a:ext cx="262737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Datasphere / BDC Cloud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connected modules cover the full lifecycle, from modeling to audit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943100" y="194767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/home/claude/deck/icon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2" y="211226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Center view of risk flags, active roles, users, and org coverage at a glance.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1688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756148" y="194767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/home/claude/deck/icon_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11226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7889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Manager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3200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Global → Region → Plant hierarchy and map attributes to each node.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74736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9569196" y="194767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/home/claude/deck/icon_mag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3788" y="2112264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7889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Wizard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03336" y="3200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four-step flow to define, simulate, and deploy role restrictions.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1943100" y="441655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/home/claude/deck/icon_user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692" y="458114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5257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Assignments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669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derived roles to users and teams, with inheritance enforced automatically.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1688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19"/>
          <p:cNvSpPr/>
          <p:nvPr/>
        </p:nvSpPr>
        <p:spPr>
          <a:xfrm>
            <a:off x="5756148" y="441655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4" descr="/home/claude/deck/icon_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0740" y="4581144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5257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Tracker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0288" y="5669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of every create, update, and delete, with full before/after diffs.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74736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3"/>
          <p:cNvSpPr/>
          <p:nvPr/>
        </p:nvSpPr>
        <p:spPr>
          <a:xfrm>
            <a:off x="9569196" y="441655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5" descr="/home/claude/deck/icon_c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3788" y="4581144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7616" y="5257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03336" y="56692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BDC connections, restriction fields, and DRAGE sync rules centrally.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Wizard Delivers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that turn row-level security into a governed, self-service process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822960" y="1984248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/home/claude/deck/icon_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1534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476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the Org Tree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441448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Global → Region → Plant hierarchies and auto-generate roles from mapped attributes.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6537960" y="1984248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/home/claude/deck/icon_mag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24" y="215341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476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Role Wizard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98080" y="2441448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four-step flow to define restrictions, simulate access, and route for approval before deploy.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822960" y="4453128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/home/claude/deck/icon_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462229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4165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Decentralized Self-Service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4910328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IT owns global templates; local admins create and assign derived roles autonomously.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6537960" y="4453128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/home/claude/deck/icon_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124" y="462229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4165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Replication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98080" y="4910328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rules expand into flat rows and sync natively to SAP HANA and Datasphere.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Center: Know Your Risk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surfaces exactly where authorization risk is hiding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roles granting sensitive access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3957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with no restrictions, exposing excess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2962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9626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roles assigned to nobody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48640" y="35295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lacking a designated owner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3367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at-a-glance totals for users, active assignments, and organizational nodes across every environment.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46931B75-D6C5-B934-71D2-A9836245E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499" y="1302981"/>
            <a:ext cx="4623621" cy="48372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Org, Generate the Roles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hierarchy once; the system does the role engineering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39319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0" y="470916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(e.g. Country = FR) map to each node and become role restrictions automatically.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9659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6634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189280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nodes for regions, plants, or segments — build the tree once.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6634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94436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key-value attributes (e.g. Country, Plant) to each node.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663440" y="40690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66344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399592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role for one node, or click Generate All Roles to sync the entire hierarchy.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51A03FFF-D4C4-3C7E-18E5-0C69EE439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16" y="1529692"/>
            <a:ext cx="3644884" cy="31794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E377-76CF-8A02-A8A3-8F8189A3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27DC87-DD12-F0C2-E55A-CA74981CC7E8}"/>
              </a:ext>
            </a:extLst>
          </p:cNvPr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Authorization Wizard: Four Guided Steps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1B2AA0-C979-0BA5-F19E-60E6E3A8A359}"/>
              </a:ext>
            </a:extLst>
          </p:cNvPr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origin to deployment with impact analysis before anything goes live 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EF90DE-17BF-51DF-5373-A9D856D317EE}"/>
              </a:ext>
            </a:extLst>
          </p:cNvPr>
          <p:cNvSpPr/>
          <p:nvPr/>
        </p:nvSpPr>
        <p:spPr>
          <a:xfrm>
            <a:off x="548640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76EEDF-E581-9E5D-5C33-FE1B7080D487}"/>
              </a:ext>
            </a:extLst>
          </p:cNvPr>
          <p:cNvSpPr/>
          <p:nvPr/>
        </p:nvSpPr>
        <p:spPr>
          <a:xfrm>
            <a:off x="1559052" y="2148840"/>
            <a:ext cx="585216" cy="585216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02B1BC-7CB9-7023-F85C-848FA9617855}"/>
              </a:ext>
            </a:extLst>
          </p:cNvPr>
          <p:cNvSpPr/>
          <p:nvPr/>
        </p:nvSpPr>
        <p:spPr>
          <a:xfrm>
            <a:off x="1559052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4D5324-7780-D0DC-0EDF-6441BEFEA128}"/>
              </a:ext>
            </a:extLst>
          </p:cNvPr>
          <p:cNvSpPr/>
          <p:nvPr/>
        </p:nvSpPr>
        <p:spPr>
          <a:xfrm>
            <a:off x="713232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Origin &amp; Parent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F83532-8E24-9AD9-5E80-3AE4163EA83C}"/>
              </a:ext>
            </a:extLst>
          </p:cNvPr>
          <p:cNvSpPr/>
          <p:nvPr/>
        </p:nvSpPr>
        <p:spPr>
          <a:xfrm>
            <a:off x="749808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Single or Organizational role type; optionally inherit from an approved parent template.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A1CA31-0407-3488-9C82-7A62E1E170A0}"/>
              </a:ext>
            </a:extLst>
          </p:cNvPr>
          <p:cNvSpPr/>
          <p:nvPr/>
        </p:nvSpPr>
        <p:spPr>
          <a:xfrm>
            <a:off x="3163824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907555A-E11D-817A-6DBC-C26ED683BCE6}"/>
              </a:ext>
            </a:extLst>
          </p:cNvPr>
          <p:cNvSpPr/>
          <p:nvPr/>
        </p:nvSpPr>
        <p:spPr>
          <a:xfrm>
            <a:off x="3355848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0D587A5-4D7C-9195-CF2C-9B81B9EE12DD}"/>
              </a:ext>
            </a:extLst>
          </p:cNvPr>
          <p:cNvSpPr/>
          <p:nvPr/>
        </p:nvSpPr>
        <p:spPr>
          <a:xfrm>
            <a:off x="4366260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03EC9C6-2171-1C9F-AF0F-E6B6A643C0B4}"/>
              </a:ext>
            </a:extLst>
          </p:cNvPr>
          <p:cNvSpPr/>
          <p:nvPr/>
        </p:nvSpPr>
        <p:spPr>
          <a:xfrm>
            <a:off x="4366260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6ADD4A6-5494-261E-484D-576487B973E4}"/>
              </a:ext>
            </a:extLst>
          </p:cNvPr>
          <p:cNvSpPr/>
          <p:nvPr/>
        </p:nvSpPr>
        <p:spPr>
          <a:xfrm>
            <a:off x="3520440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Restrictions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12DC1F5-E84A-C2F9-6B45-5DD184A1B933}"/>
              </a:ext>
            </a:extLst>
          </p:cNvPr>
          <p:cNvSpPr/>
          <p:nvPr/>
        </p:nvSpPr>
        <p:spPr>
          <a:xfrm>
            <a:off x="3557016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filters (single, range, hierarchy, wildcard)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4581FB9-76D3-E4BD-F4FE-E1D343B1AB69}"/>
              </a:ext>
            </a:extLst>
          </p:cNvPr>
          <p:cNvSpPr/>
          <p:nvPr/>
        </p:nvSpPr>
        <p:spPr>
          <a:xfrm>
            <a:off x="5971032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3CA0EBA-FB7D-0B6C-E56D-67FED6D47947}"/>
              </a:ext>
            </a:extLst>
          </p:cNvPr>
          <p:cNvSpPr/>
          <p:nvPr/>
        </p:nvSpPr>
        <p:spPr>
          <a:xfrm>
            <a:off x="6163056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9049D96-00AC-19BE-D075-91AEDC0EC4F8}"/>
              </a:ext>
            </a:extLst>
          </p:cNvPr>
          <p:cNvSpPr/>
          <p:nvPr/>
        </p:nvSpPr>
        <p:spPr>
          <a:xfrm>
            <a:off x="7173468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676162F-619E-66E2-A79E-54BE38AA543B}"/>
              </a:ext>
            </a:extLst>
          </p:cNvPr>
          <p:cNvSpPr/>
          <p:nvPr/>
        </p:nvSpPr>
        <p:spPr>
          <a:xfrm>
            <a:off x="7173468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F7DB357-D83C-E273-DD35-8A361838F633}"/>
              </a:ext>
            </a:extLst>
          </p:cNvPr>
          <p:cNvSpPr/>
          <p:nvPr/>
        </p:nvSpPr>
        <p:spPr>
          <a:xfrm>
            <a:off x="6327648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Approvers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B8C0CD8-F193-DB1A-D2CB-D77673C92BBD}"/>
              </a:ext>
            </a:extLst>
          </p:cNvPr>
          <p:cNvSpPr/>
          <p:nvPr/>
        </p:nvSpPr>
        <p:spPr>
          <a:xfrm>
            <a:off x="6364224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assign approvers via SCIM lookup.</a:t>
            </a:r>
            <a:endParaRPr lang="en-US" sz="11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05FB1F0-8AB4-3AC0-46CC-70288E0335BA}"/>
              </a:ext>
            </a:extLst>
          </p:cNvPr>
          <p:cNvSpPr/>
          <p:nvPr/>
        </p:nvSpPr>
        <p:spPr>
          <a:xfrm>
            <a:off x="8778240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9A98EB4-58DC-5093-BBC1-ECC9A8E55171}"/>
              </a:ext>
            </a:extLst>
          </p:cNvPr>
          <p:cNvSpPr/>
          <p:nvPr/>
        </p:nvSpPr>
        <p:spPr>
          <a:xfrm>
            <a:off x="8970264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C03228E-2B4E-D40C-A282-FF7488FF37D7}"/>
              </a:ext>
            </a:extLst>
          </p:cNvPr>
          <p:cNvSpPr/>
          <p:nvPr/>
        </p:nvSpPr>
        <p:spPr>
          <a:xfrm>
            <a:off x="9980676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1C8E5D4-81FE-23D7-42CE-9C4FE69DAC2B}"/>
              </a:ext>
            </a:extLst>
          </p:cNvPr>
          <p:cNvSpPr/>
          <p:nvPr/>
        </p:nvSpPr>
        <p:spPr>
          <a:xfrm>
            <a:off x="9980676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CA627E6-D57C-79D3-6BA5-2CBDD1D29DAB}"/>
              </a:ext>
            </a:extLst>
          </p:cNvPr>
          <p:cNvSpPr/>
          <p:nvPr/>
        </p:nvSpPr>
        <p:spPr>
          <a:xfrm>
            <a:off x="9134856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Deploy</a:t>
            </a:r>
            <a:endParaRPr lang="en-US" sz="15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F88C24A-65FD-DFB6-7E3B-931EB54B7B0E}"/>
              </a:ext>
            </a:extLst>
          </p:cNvPr>
          <p:cNvSpPr/>
          <p:nvPr/>
        </p:nvSpPr>
        <p:spPr>
          <a:xfrm>
            <a:off x="9171432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downstream impact on child roles and users, then deploy.</a:t>
            </a:r>
            <a:endParaRPr lang="en-US" sz="11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1E74C7C-2EAE-D204-ECCB-BC95E897E2C4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0D0F078-2EE5-4AEE-089C-D1051A86314F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2408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BC7A-CF76-DAC3-B4EE-B1D39ED15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EC362B-C68A-FC1A-666D-5A1CA69E7C82}"/>
              </a:ext>
            </a:extLst>
          </p:cNvPr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Authorization Wizard: Four Guided Steps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BAB7B8-209A-177C-A561-47D7FE0DBFC2}"/>
              </a:ext>
            </a:extLst>
          </p:cNvPr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origin to deployment with impact analysis before anything goes live </a:t>
            </a:r>
            <a:endParaRPr lang="en-US" sz="15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753E4A5-CE6F-65ED-16E4-7CE122A212CA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4C386E3-2C5D-7360-C74D-EB026F2D9D9A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46313E4D-429D-9152-5E41-17E3F5595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05" y="1504188"/>
            <a:ext cx="6106798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18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Authorization Wizard: Four Guided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origin to deployment with impact analysis before anything goes live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559052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559052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 &amp; Parent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Single or Organizational role type; optionally inherit from an approved parent template.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63824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55848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366260" y="2148840"/>
            <a:ext cx="585216" cy="585216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366260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20440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57016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filters (single, range, hierarchy, wildcard)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71032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63056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7173468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173468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27648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64224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assign approvers via SCIM lookup.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78240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70264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9980676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9980676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34856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Deploy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71432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downstream impact on child roles and users, then deploy.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3C73C-D015-F831-0D98-246ADF67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2DCD94-E85A-81AB-0783-01A47B20D8F5}"/>
              </a:ext>
            </a:extLst>
          </p:cNvPr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Authorization Wizard: Four Guided Steps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6A7523-F228-A358-2504-5641552ACC1D}"/>
              </a:ext>
            </a:extLst>
          </p:cNvPr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origin to deployment with impact analysis before anything goes live </a:t>
            </a:r>
            <a:endParaRPr lang="en-US" sz="15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9DA45E7-9302-0CAE-3E88-467AE1D4EACB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EACC5B7-68B8-DA0A-E18A-D24D9C9FBD8E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DB20362-6A45-10AD-737F-7C423114F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967" y="1080760"/>
            <a:ext cx="8888065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68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954A-91BA-9CDB-A25D-5F72D61E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BF08C6-FAAE-C6D6-ADD5-9DEF37C39237}"/>
              </a:ext>
            </a:extLst>
          </p:cNvPr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Authorization Wizard: Four Guided Steps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666CCD-C345-6A61-0AF4-763885157D27}"/>
              </a:ext>
            </a:extLst>
          </p:cNvPr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origin to deployment with impact analysis before anything goes live 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C90BAE-E41E-ED99-AE38-D648EB2AB908}"/>
              </a:ext>
            </a:extLst>
          </p:cNvPr>
          <p:cNvSpPr/>
          <p:nvPr/>
        </p:nvSpPr>
        <p:spPr>
          <a:xfrm>
            <a:off x="548640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DA4B6D-FFB5-5109-D3C4-824819585C8B}"/>
              </a:ext>
            </a:extLst>
          </p:cNvPr>
          <p:cNvSpPr/>
          <p:nvPr/>
        </p:nvSpPr>
        <p:spPr>
          <a:xfrm>
            <a:off x="1559052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77518E-52EF-5052-1618-E58FD948285B}"/>
              </a:ext>
            </a:extLst>
          </p:cNvPr>
          <p:cNvSpPr/>
          <p:nvPr/>
        </p:nvSpPr>
        <p:spPr>
          <a:xfrm>
            <a:off x="1559052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04ED72-E51D-5A0A-820F-C4AE2E2AADD0}"/>
              </a:ext>
            </a:extLst>
          </p:cNvPr>
          <p:cNvSpPr/>
          <p:nvPr/>
        </p:nvSpPr>
        <p:spPr>
          <a:xfrm>
            <a:off x="713232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 &amp; Parent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7EC24F-A46A-DCA6-108D-CF71E65FAC39}"/>
              </a:ext>
            </a:extLst>
          </p:cNvPr>
          <p:cNvSpPr/>
          <p:nvPr/>
        </p:nvSpPr>
        <p:spPr>
          <a:xfrm>
            <a:off x="749808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Single or Organizational role type; optionally inherit from an approved parent template.</a:t>
            </a:r>
            <a:endParaRPr lang="en-US" sz="11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415BB85-0DBE-B267-98F9-40854D8C9758}"/>
              </a:ext>
            </a:extLst>
          </p:cNvPr>
          <p:cNvSpPr/>
          <p:nvPr/>
        </p:nvSpPr>
        <p:spPr>
          <a:xfrm>
            <a:off x="3163824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0CD39E5-9F81-7DB6-7827-BB46DA767992}"/>
              </a:ext>
            </a:extLst>
          </p:cNvPr>
          <p:cNvSpPr/>
          <p:nvPr/>
        </p:nvSpPr>
        <p:spPr>
          <a:xfrm>
            <a:off x="3355848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B0182E2-B12E-1371-27C4-638B21A6152D}"/>
              </a:ext>
            </a:extLst>
          </p:cNvPr>
          <p:cNvSpPr/>
          <p:nvPr/>
        </p:nvSpPr>
        <p:spPr>
          <a:xfrm>
            <a:off x="4366260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7365026-2C8A-EF89-7E65-5115029B7CF3}"/>
              </a:ext>
            </a:extLst>
          </p:cNvPr>
          <p:cNvSpPr/>
          <p:nvPr/>
        </p:nvSpPr>
        <p:spPr>
          <a:xfrm>
            <a:off x="4366260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36C72D-FCC8-01FB-4061-6893080B493B}"/>
              </a:ext>
            </a:extLst>
          </p:cNvPr>
          <p:cNvSpPr/>
          <p:nvPr/>
        </p:nvSpPr>
        <p:spPr>
          <a:xfrm>
            <a:off x="3520440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Restrictions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7DBD1FA-811B-263C-5B76-FC2D43080FD9}"/>
              </a:ext>
            </a:extLst>
          </p:cNvPr>
          <p:cNvSpPr/>
          <p:nvPr/>
        </p:nvSpPr>
        <p:spPr>
          <a:xfrm>
            <a:off x="3557016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filters (single, range, hierarchy, wildcard)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8E6D68-EE14-2D58-23C0-2F4DDCBF73C3}"/>
              </a:ext>
            </a:extLst>
          </p:cNvPr>
          <p:cNvSpPr/>
          <p:nvPr/>
        </p:nvSpPr>
        <p:spPr>
          <a:xfrm>
            <a:off x="5971032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4E06029-C398-0785-D206-5A23CE25EE1B}"/>
              </a:ext>
            </a:extLst>
          </p:cNvPr>
          <p:cNvSpPr/>
          <p:nvPr/>
        </p:nvSpPr>
        <p:spPr>
          <a:xfrm>
            <a:off x="6163056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69C5AA1-5FEC-B5CA-0446-8937D7C29774}"/>
              </a:ext>
            </a:extLst>
          </p:cNvPr>
          <p:cNvSpPr/>
          <p:nvPr/>
        </p:nvSpPr>
        <p:spPr>
          <a:xfrm>
            <a:off x="7173468" y="2148840"/>
            <a:ext cx="585216" cy="585216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6B16E8F-CD2D-2E13-BB2B-486ECA3A4C67}"/>
              </a:ext>
            </a:extLst>
          </p:cNvPr>
          <p:cNvSpPr/>
          <p:nvPr/>
        </p:nvSpPr>
        <p:spPr>
          <a:xfrm>
            <a:off x="7173468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3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18BB5F5-CACC-CD73-995D-63C841A77618}"/>
              </a:ext>
            </a:extLst>
          </p:cNvPr>
          <p:cNvSpPr/>
          <p:nvPr/>
        </p:nvSpPr>
        <p:spPr>
          <a:xfrm>
            <a:off x="6327648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Approvers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D20F893-8962-0A96-9F18-399F7ABBC182}"/>
              </a:ext>
            </a:extLst>
          </p:cNvPr>
          <p:cNvSpPr/>
          <p:nvPr/>
        </p:nvSpPr>
        <p:spPr>
          <a:xfrm>
            <a:off x="6364224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assign approvers via SCIM lookup.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DBEB7DC-AD97-64DD-E625-D475E093E71F}"/>
              </a:ext>
            </a:extLst>
          </p:cNvPr>
          <p:cNvSpPr/>
          <p:nvPr/>
        </p:nvSpPr>
        <p:spPr>
          <a:xfrm>
            <a:off x="8778240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E706E9C-5CF2-167D-0CAC-FC8D9E771483}"/>
              </a:ext>
            </a:extLst>
          </p:cNvPr>
          <p:cNvSpPr/>
          <p:nvPr/>
        </p:nvSpPr>
        <p:spPr>
          <a:xfrm>
            <a:off x="8970264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F2D826D-E704-7C8F-68F1-3978DCF6F66D}"/>
              </a:ext>
            </a:extLst>
          </p:cNvPr>
          <p:cNvSpPr/>
          <p:nvPr/>
        </p:nvSpPr>
        <p:spPr>
          <a:xfrm>
            <a:off x="9980676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6734AE9-2BD8-8A04-0E5B-FF36E103AF50}"/>
              </a:ext>
            </a:extLst>
          </p:cNvPr>
          <p:cNvSpPr/>
          <p:nvPr/>
        </p:nvSpPr>
        <p:spPr>
          <a:xfrm>
            <a:off x="9980676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6B0C9A8-4D76-9F18-5828-76533A48D006}"/>
              </a:ext>
            </a:extLst>
          </p:cNvPr>
          <p:cNvSpPr/>
          <p:nvPr/>
        </p:nvSpPr>
        <p:spPr>
          <a:xfrm>
            <a:off x="9134856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Deploy</a:t>
            </a:r>
            <a:endParaRPr lang="en-US" sz="15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EE1EF83-4340-C367-1BEE-CB15ECEFF9E9}"/>
              </a:ext>
            </a:extLst>
          </p:cNvPr>
          <p:cNvSpPr/>
          <p:nvPr/>
        </p:nvSpPr>
        <p:spPr>
          <a:xfrm>
            <a:off x="9171432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downstream impact on child roles and users, then deploy.</a:t>
            </a:r>
            <a:endParaRPr lang="en-US" sz="11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8357CCE-F74F-B8A3-E8D4-D8374BA8C9FB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CDBDC50-B4D9-C91A-51F3-6367822E3D29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21349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19EA1-BF4B-41D3-9022-2342328FD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B8E501-F375-EB7F-4997-18AFF9449F3F}"/>
              </a:ext>
            </a:extLst>
          </p:cNvPr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Authorization Wizard: Four Guided Steps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FEABF8-6733-90E4-530F-0DE489FD7644}"/>
              </a:ext>
            </a:extLst>
          </p:cNvPr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origin to deployment with impact analysis before anything goes live </a:t>
            </a:r>
            <a:endParaRPr lang="en-US" sz="15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7997503-FF6E-7A69-A024-9DCE7056F168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68C8883-F30A-B066-BD0B-CFAD3E8F396E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89437767-A7F1-D2FD-F272-C27CB3435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046" y="1495155"/>
            <a:ext cx="9011908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2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4FFE6-367D-B089-11AB-AC083942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F20A2B-37E6-35BB-82D7-205323B21D1E}"/>
              </a:ext>
            </a:extLst>
          </p:cNvPr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Authorization Wizard: Four Guided Steps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B6A1941-ABE3-4700-28B0-85DA18FF4875}"/>
              </a:ext>
            </a:extLst>
          </p:cNvPr>
          <p:cNvSpPr/>
          <p:nvPr/>
        </p:nvSpPr>
        <p:spPr>
          <a:xfrm>
            <a:off x="548640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169AE54-AB82-96C5-CEB6-76D06A849557}"/>
              </a:ext>
            </a:extLst>
          </p:cNvPr>
          <p:cNvSpPr/>
          <p:nvPr/>
        </p:nvSpPr>
        <p:spPr>
          <a:xfrm>
            <a:off x="1559052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49C6FF-5801-26AF-A2B5-462C32234C25}"/>
              </a:ext>
            </a:extLst>
          </p:cNvPr>
          <p:cNvSpPr/>
          <p:nvPr/>
        </p:nvSpPr>
        <p:spPr>
          <a:xfrm>
            <a:off x="1559052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CC2EA9-8098-79C1-50CA-1125F0A2EA2E}"/>
              </a:ext>
            </a:extLst>
          </p:cNvPr>
          <p:cNvSpPr/>
          <p:nvPr/>
        </p:nvSpPr>
        <p:spPr>
          <a:xfrm>
            <a:off x="713232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 &amp; Parent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256A223-5024-E2D0-F7DA-DD80D9B859E3}"/>
              </a:ext>
            </a:extLst>
          </p:cNvPr>
          <p:cNvSpPr/>
          <p:nvPr/>
        </p:nvSpPr>
        <p:spPr>
          <a:xfrm>
            <a:off x="749808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Single or Organizational role type; optionally inherit from an approved parent template.</a:t>
            </a:r>
            <a:endParaRPr lang="en-US" sz="11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8FF2B5-8C9D-2744-8439-7028BF3F4720}"/>
              </a:ext>
            </a:extLst>
          </p:cNvPr>
          <p:cNvSpPr/>
          <p:nvPr/>
        </p:nvSpPr>
        <p:spPr>
          <a:xfrm>
            <a:off x="3163824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C316BA2-B8BC-AC13-7F44-E93A3844ADBC}"/>
              </a:ext>
            </a:extLst>
          </p:cNvPr>
          <p:cNvSpPr/>
          <p:nvPr/>
        </p:nvSpPr>
        <p:spPr>
          <a:xfrm>
            <a:off x="3355848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9A5F75B-05E2-7BEC-E039-3B84CAD50D3F}"/>
              </a:ext>
            </a:extLst>
          </p:cNvPr>
          <p:cNvSpPr/>
          <p:nvPr/>
        </p:nvSpPr>
        <p:spPr>
          <a:xfrm>
            <a:off x="4366260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B62262E-6CFE-E4B0-9943-CC7105578CA1}"/>
              </a:ext>
            </a:extLst>
          </p:cNvPr>
          <p:cNvSpPr/>
          <p:nvPr/>
        </p:nvSpPr>
        <p:spPr>
          <a:xfrm>
            <a:off x="4366260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375EBDE-030D-EA16-1207-5B9CF4764C60}"/>
              </a:ext>
            </a:extLst>
          </p:cNvPr>
          <p:cNvSpPr/>
          <p:nvPr/>
        </p:nvSpPr>
        <p:spPr>
          <a:xfrm>
            <a:off x="3520440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Restrictions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8D6CEF1-36C0-7454-4D7E-2AB4544B4583}"/>
              </a:ext>
            </a:extLst>
          </p:cNvPr>
          <p:cNvSpPr/>
          <p:nvPr/>
        </p:nvSpPr>
        <p:spPr>
          <a:xfrm>
            <a:off x="3557016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filters (single, range, hierarchy, wildcard)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379984A-66CE-DD3D-CF5A-AC13D80CD633}"/>
              </a:ext>
            </a:extLst>
          </p:cNvPr>
          <p:cNvSpPr/>
          <p:nvPr/>
        </p:nvSpPr>
        <p:spPr>
          <a:xfrm>
            <a:off x="5971032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7DB7865-C584-DD84-ABC0-EB9F5900E83C}"/>
              </a:ext>
            </a:extLst>
          </p:cNvPr>
          <p:cNvSpPr/>
          <p:nvPr/>
        </p:nvSpPr>
        <p:spPr>
          <a:xfrm>
            <a:off x="6163056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A078B22-091F-B0D3-A93F-A7704C3379B3}"/>
              </a:ext>
            </a:extLst>
          </p:cNvPr>
          <p:cNvSpPr/>
          <p:nvPr/>
        </p:nvSpPr>
        <p:spPr>
          <a:xfrm>
            <a:off x="7173468" y="2148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B4E0986-F382-020D-36E0-22CB55170F53}"/>
              </a:ext>
            </a:extLst>
          </p:cNvPr>
          <p:cNvSpPr/>
          <p:nvPr/>
        </p:nvSpPr>
        <p:spPr>
          <a:xfrm>
            <a:off x="7173468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2D78E18-BDA6-2B9D-EAFF-8BFA098F7D01}"/>
              </a:ext>
            </a:extLst>
          </p:cNvPr>
          <p:cNvSpPr/>
          <p:nvPr/>
        </p:nvSpPr>
        <p:spPr>
          <a:xfrm>
            <a:off x="6327648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Approvers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42117EF-2FE9-E3FF-7458-31A1C415822F}"/>
              </a:ext>
            </a:extLst>
          </p:cNvPr>
          <p:cNvSpPr/>
          <p:nvPr/>
        </p:nvSpPr>
        <p:spPr>
          <a:xfrm>
            <a:off x="6364224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assign approvers via SCIM lookup.</a:t>
            </a:r>
            <a:endParaRPr lang="en-US" sz="11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ACC6DAE-64C2-1C91-704A-1ED5DFDFA15A}"/>
              </a:ext>
            </a:extLst>
          </p:cNvPr>
          <p:cNvSpPr/>
          <p:nvPr/>
        </p:nvSpPr>
        <p:spPr>
          <a:xfrm>
            <a:off x="8778240" y="3291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D458D4D-2E1C-02D3-E50F-5D869979919F}"/>
              </a:ext>
            </a:extLst>
          </p:cNvPr>
          <p:cNvSpPr/>
          <p:nvPr/>
        </p:nvSpPr>
        <p:spPr>
          <a:xfrm>
            <a:off x="8970264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CD49319-A0E9-2B10-9538-82BA424ED651}"/>
              </a:ext>
            </a:extLst>
          </p:cNvPr>
          <p:cNvSpPr/>
          <p:nvPr/>
        </p:nvSpPr>
        <p:spPr>
          <a:xfrm>
            <a:off x="9980676" y="2148840"/>
            <a:ext cx="585216" cy="585216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A09E703-EB63-00EC-CE83-D6B62781D4D2}"/>
              </a:ext>
            </a:extLst>
          </p:cNvPr>
          <p:cNvSpPr/>
          <p:nvPr/>
        </p:nvSpPr>
        <p:spPr>
          <a:xfrm>
            <a:off x="9980676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4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A81CF40-3483-C2FF-CD09-211174A34061}"/>
              </a:ext>
            </a:extLst>
          </p:cNvPr>
          <p:cNvSpPr/>
          <p:nvPr/>
        </p:nvSpPr>
        <p:spPr>
          <a:xfrm>
            <a:off x="9134856" y="29260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Review &amp; Deploy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996EC87-48FB-1AB6-753C-A108939069AB}"/>
              </a:ext>
            </a:extLst>
          </p:cNvPr>
          <p:cNvSpPr/>
          <p:nvPr/>
        </p:nvSpPr>
        <p:spPr>
          <a:xfrm>
            <a:off x="9171432" y="347472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downstream impact on child roles and users, then deploy.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44E2759-6DF4-FC6F-5802-CDF7D01DC47B}"/>
              </a:ext>
            </a:extLst>
          </p:cNvPr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E795FF4-BECB-ED61-CE29-EA241889038A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8A3617D-010A-184E-9D48-89021B5D69E7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FF0EF632-7613-FE2E-188D-D7B5DAC8FA5B}"/>
              </a:ext>
            </a:extLst>
          </p:cNvPr>
          <p:cNvSpPr/>
          <p:nvPr/>
        </p:nvSpPr>
        <p:spPr>
          <a:xfrm>
            <a:off x="572400" y="97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origin to deployment with impact analysis before anything goes live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04859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3637-9A9A-125D-3B46-446FB65F4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afik 32">
            <a:extLst>
              <a:ext uri="{FF2B5EF4-FFF2-40B4-BE49-F238E27FC236}">
                <a16:creationId xmlns:a16="http://schemas.microsoft.com/office/drawing/2014/main" id="{EBAB0C9C-D860-B796-444E-7FE4D5B00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24" y="1521614"/>
            <a:ext cx="7456704" cy="5065363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B210B86-B040-0D08-9510-A17790BF30E4}"/>
              </a:ext>
            </a:extLst>
          </p:cNvPr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Authorization Wizard: Four Guided Steps</a:t>
            </a:r>
            <a:endParaRPr lang="en-US" sz="3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B3EC63D-77ED-2BD9-D0C8-EE8CFF322325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D272599-C8C5-3BD4-C6E4-2E5A389F607D}"/>
              </a:ext>
            </a:extLst>
          </p:cNvPr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BF1ACC5F-8E52-B71D-27F1-481DA344445D}"/>
              </a:ext>
            </a:extLst>
          </p:cNvPr>
          <p:cNvSpPr/>
          <p:nvPr/>
        </p:nvSpPr>
        <p:spPr>
          <a:xfrm>
            <a:off x="572400" y="97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origin to deployment with impact analysis before anything goes live </a:t>
            </a:r>
            <a:endParaRPr lang="en-US" sz="1500" dirty="0"/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7D3114CF-8411-2034-B017-1921A4200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210" y="4126019"/>
            <a:ext cx="6046230" cy="222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28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Control, Local Autonomy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Central IT as the bottleneck for every regional role request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pic>
        <p:nvPicPr>
          <p:cNvPr id="5" name="Image 0" descr="/home/claude/deck/icon_white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148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Central</a:t>
            </a: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IT Security</a:t>
            </a:r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Parent (Single) Roles — global, structural templates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canManageSingleRoles permission exclusively</a:t>
            </a:r>
          </a:p>
          <a:p>
            <a:pPr>
              <a:spcAft>
                <a:spcPts val="1000"/>
              </a:spcAft>
              <a:buSzPct val="100000"/>
            </a:pPr>
            <a:endParaRPr lang="en-US" sz="13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approved restriction fields and structural logic (e.g. "must restrict by Company Code")</a:t>
            </a:r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Image 1" descr="/home/claude/deck/icon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1488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2148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Business Admins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583680" y="2926080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Derived (Child) Roles for their own region or plant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parent restrictions automatically — read-only, cannot weaken them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3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local parameters (e.g. Cost Center = FR01DE) and assign roles to their team, all without Central IT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Streams: Built for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Namespaced tables keep millions of row-level rules fast and organized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4328" cy="3977640"/>
          </a:xfrm>
          <a:prstGeom prst="roundRect">
            <a:avLst>
              <a:gd name="adj" fmla="val 278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540764" y="2103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/home/claude/deck/icon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4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92608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Performance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2585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stream gets its own flat table (e.g. finance_flat_authorizations) — small, index-friendly, fast.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74136" y="1828800"/>
            <a:ext cx="2624328" cy="3977640"/>
          </a:xfrm>
          <a:prstGeom prst="roundRect">
            <a:avLst>
              <a:gd name="adj" fmla="val 278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4366260" y="2103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/home/claude/deck/icon_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240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92608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Simplified Organization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57016" y="3611880"/>
            <a:ext cx="22585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grouped and filterable by business domain instead of one global list.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99632" y="1828800"/>
            <a:ext cx="2624328" cy="3977640"/>
          </a:xfrm>
          <a:prstGeom prst="roundRect">
            <a:avLst>
              <a:gd name="adj" fmla="val 278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7191756" y="2103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/home/claude/deck/icon_up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916" y="2240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92608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Data Push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82512" y="3611880"/>
            <a:ext cx="22585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Datasphere sync pushes only the relevant stream's rows, not a full enterprise bulk sync.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25128" y="1828800"/>
            <a:ext cx="2624328" cy="3977640"/>
          </a:xfrm>
          <a:prstGeom prst="roundRect">
            <a:avLst>
              <a:gd name="adj" fmla="val 2787"/>
            </a:avLst>
          </a:prstGeom>
          <a:solidFill>
            <a:srgbClr val="F7F9FC"/>
          </a:solidFill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10017252" y="21031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/home/claude/deck/icon_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412" y="22402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92608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Context-Based Splitting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08008" y="3611880"/>
            <a:ext cx="225856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user can hold different access scopes for the same field across streams — e.g. broader view in Sales Reporting, narrower in Sales Planning.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Append-Only Audit Trail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roles, restrictions, and assignments is captured and reviewable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time range, action (Create / Update / Delete), entity type, or performer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68680" y="27898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Critical Roles Only for high-risk review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68680" y="3689857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entry for a full before/after diff of restriction changes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BDC Authorization Wizard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466B26C5-1B89-48B0-6533-99A09527F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279" y="1861234"/>
            <a:ext cx="4480041" cy="2710766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3E3AD4D2-F9C0-A920-F2AE-EBB977DE9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892" y="4292764"/>
            <a:ext cx="5426364" cy="24461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937760" cy="4937760"/>
          </a:xfrm>
          <a:prstGeom prst="ellipse">
            <a:avLst/>
          </a:prstGeom>
          <a:solidFill>
            <a:srgbClr val="2E3A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SAP BDC Authorization Wizard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51560" y="1435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Weeks to Minutes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8013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role creation and org-driven generation replace manual database edits.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587752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5156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Decentralized, Not Uncontrolled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autonomy for regional teams, global governance for Central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547872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051560" y="3355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by Design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72160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trail with full before/after diffs, out of the box.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051560" y="4315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6817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Namespaced streams keep millions of row-level rules fast across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27432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scope a pilot for your landscape.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3429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working-session demo against one of your business streams.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1860</Words>
  <Application>Microsoft Office PowerPoint</Application>
  <PresentationFormat>Breitbild</PresentationFormat>
  <Paragraphs>305</Paragraphs>
  <Slides>22</Slides>
  <Notes>22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 Eisele</cp:lastModifiedBy>
  <cp:revision>6</cp:revision>
  <dcterms:created xsi:type="dcterms:W3CDTF">2026-07-14T17:04:22Z</dcterms:created>
  <dcterms:modified xsi:type="dcterms:W3CDTF">2026-07-16T20:27:28Z</dcterms:modified>
</cp:coreProperties>
</file>