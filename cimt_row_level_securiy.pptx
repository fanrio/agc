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1" r:id="rId4"/>
  </p:sldMasterIdLst>
  <p:notesMasterIdLst>
    <p:notesMasterId r:id="rId14"/>
  </p:notesMasterIdLst>
  <p:handoutMasterIdLst>
    <p:handoutMasterId r:id="rId15"/>
  </p:handoutMasterIdLst>
  <p:sldIdLst>
    <p:sldId id="1590" r:id="rId5"/>
    <p:sldId id="1591" r:id="rId6"/>
    <p:sldId id="265" r:id="rId7"/>
    <p:sldId id="280" r:id="rId8"/>
    <p:sldId id="1592" r:id="rId9"/>
    <p:sldId id="1594" r:id="rId10"/>
    <p:sldId id="281" r:id="rId11"/>
    <p:sldId id="1595" r:id="rId12"/>
    <p:sldId id="1593" r:id="rId13"/>
  </p:sldIdLst>
  <p:sldSz cx="12192000" cy="6858000"/>
  <p:notesSz cx="9926638" cy="1435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F1A8B21-0FFC-48B7-B76F-00FD0173085F}">
          <p14:sldIdLst>
            <p14:sldId id="1590"/>
            <p14:sldId id="1591"/>
            <p14:sldId id="265"/>
            <p14:sldId id="280"/>
            <p14:sldId id="1592"/>
            <p14:sldId id="1594"/>
            <p14:sldId id="281"/>
            <p14:sldId id="1595"/>
            <p14:sldId id="15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ald Ruso" initials="HR" lastIdx="90" clrIdx="0">
    <p:extLst>
      <p:ext uri="{19B8F6BF-5375-455C-9EA6-DF929625EA0E}">
        <p15:presenceInfo xmlns:p15="http://schemas.microsoft.com/office/powerpoint/2012/main" userId="S::hruso@AD.CIMT.DE::eadf3fa7-35f5-474e-8748-75627ab45f57" providerId="AD"/>
      </p:ext>
    </p:extLst>
  </p:cmAuthor>
  <p:cmAuthor id="2" name="Natalie Ladwein" initials="NL" lastIdx="24" clrIdx="1">
    <p:extLst>
      <p:ext uri="{19B8F6BF-5375-455C-9EA6-DF929625EA0E}">
        <p15:presenceInfo xmlns:p15="http://schemas.microsoft.com/office/powerpoint/2012/main" userId="S::NLadwein@AD.CIMT.DE::f3eb70d4-56af-4fc5-b084-69e7ffcb5b55" providerId="AD"/>
      </p:ext>
    </p:extLst>
  </p:cmAuthor>
  <p:cmAuthor id="3" name="Dr. Thorsten Kuhlmann" initials="DTK" lastIdx="14" clrIdx="2">
    <p:extLst>
      <p:ext uri="{19B8F6BF-5375-455C-9EA6-DF929625EA0E}">
        <p15:presenceInfo xmlns:p15="http://schemas.microsoft.com/office/powerpoint/2012/main" userId="S::tkuhlmann@AD.CIMT.DE::1711f6b0-7186-4c64-9337-80febe2bb796" providerId="AD"/>
      </p:ext>
    </p:extLst>
  </p:cmAuthor>
  <p:cmAuthor id="4" name="Armin Rabet" initials="AR" lastIdx="10" clrIdx="3">
    <p:extLst>
      <p:ext uri="{19B8F6BF-5375-455C-9EA6-DF929625EA0E}">
        <p15:presenceInfo xmlns:p15="http://schemas.microsoft.com/office/powerpoint/2012/main" userId="S::arabet@ad.cimt.de::0885c815-f4d8-499c-b085-83ae2491abe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C251"/>
    <a:srgbClr val="E16E15"/>
    <a:srgbClr val="7FAA55"/>
    <a:srgbClr val="1F8FA7"/>
    <a:srgbClr val="2469C9"/>
    <a:srgbClr val="85B654"/>
    <a:srgbClr val="A8A3A3"/>
    <a:srgbClr val="EDAA8D"/>
    <a:srgbClr val="259DB5"/>
    <a:srgbClr val="2BAC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EE59F-F249-42EF-AFC0-583171F80966}" v="2" dt="2020-09-17T04:26:29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86"/>
    <p:restoredTop sz="94694"/>
  </p:normalViewPr>
  <p:slideViewPr>
    <p:cSldViewPr snapToGrid="0" snapToObjects="1" showGuides="1">
      <p:cViewPr varScale="1">
        <p:scale>
          <a:sx n="108" d="100"/>
          <a:sy n="108" d="100"/>
        </p:scale>
        <p:origin x="108" y="3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Thorsten Kuhlmann" userId="1711f6b0-7186-4c64-9337-80febe2bb796" providerId="ADAL" clId="{544EE59F-F249-42EF-AFC0-583171F80966}"/>
    <pc:docChg chg="undo custSel addSld modSld sldOrd">
      <pc:chgData name="Dr. Thorsten Kuhlmann" userId="1711f6b0-7186-4c64-9337-80febe2bb796" providerId="ADAL" clId="{544EE59F-F249-42EF-AFC0-583171F80966}" dt="2020-09-17T04:32:21.247" v="321" actId="1076"/>
      <pc:docMkLst>
        <pc:docMk/>
      </pc:docMkLst>
      <pc:sldChg chg="delSp modSp add mod">
        <pc:chgData name="Dr. Thorsten Kuhlmann" userId="1711f6b0-7186-4c64-9337-80febe2bb796" providerId="ADAL" clId="{544EE59F-F249-42EF-AFC0-583171F80966}" dt="2020-09-17T04:26:09.435" v="91" actId="478"/>
        <pc:sldMkLst>
          <pc:docMk/>
          <pc:sldMk cId="3083794139" sldId="1588"/>
        </pc:sldMkLst>
        <pc:spChg chg="mod">
          <ac:chgData name="Dr. Thorsten Kuhlmann" userId="1711f6b0-7186-4c64-9337-80febe2bb796" providerId="ADAL" clId="{544EE59F-F249-42EF-AFC0-583171F80966}" dt="2020-09-17T04:24:59.780" v="10" actId="20577"/>
          <ac:spMkLst>
            <pc:docMk/>
            <pc:sldMk cId="3083794139" sldId="1588"/>
            <ac:spMk id="2" creationId="{17B28DEC-59F7-B541-A2AC-BF06AB2051C1}"/>
          </ac:spMkLst>
        </pc:spChg>
        <pc:spChg chg="del">
          <ac:chgData name="Dr. Thorsten Kuhlmann" userId="1711f6b0-7186-4c64-9337-80febe2bb796" providerId="ADAL" clId="{544EE59F-F249-42EF-AFC0-583171F80966}" dt="2020-09-17T04:26:09.435" v="91" actId="478"/>
          <ac:spMkLst>
            <pc:docMk/>
            <pc:sldMk cId="3083794139" sldId="1588"/>
            <ac:spMk id="26" creationId="{591AF65F-6B3C-1247-BF90-E972763C07C7}"/>
          </ac:spMkLst>
        </pc:spChg>
        <pc:spChg chg="del">
          <ac:chgData name="Dr. Thorsten Kuhlmann" userId="1711f6b0-7186-4c64-9337-80febe2bb796" providerId="ADAL" clId="{544EE59F-F249-42EF-AFC0-583171F80966}" dt="2020-09-17T04:26:09.435" v="91" actId="478"/>
          <ac:spMkLst>
            <pc:docMk/>
            <pc:sldMk cId="3083794139" sldId="1588"/>
            <ac:spMk id="27" creationId="{3A55F1B9-0FCE-A04E-B83A-109E2593A2F1}"/>
          </ac:spMkLst>
        </pc:spChg>
        <pc:spChg chg="del">
          <ac:chgData name="Dr. Thorsten Kuhlmann" userId="1711f6b0-7186-4c64-9337-80febe2bb796" providerId="ADAL" clId="{544EE59F-F249-42EF-AFC0-583171F80966}" dt="2020-09-17T04:26:09.435" v="91" actId="478"/>
          <ac:spMkLst>
            <pc:docMk/>
            <pc:sldMk cId="3083794139" sldId="1588"/>
            <ac:spMk id="28" creationId="{BF672AEF-33AE-8447-A895-C5F464EEAFED}"/>
          </ac:spMkLst>
        </pc:spChg>
        <pc:spChg chg="del">
          <ac:chgData name="Dr. Thorsten Kuhlmann" userId="1711f6b0-7186-4c64-9337-80febe2bb796" providerId="ADAL" clId="{544EE59F-F249-42EF-AFC0-583171F80966}" dt="2020-09-17T04:26:09.435" v="91" actId="478"/>
          <ac:spMkLst>
            <pc:docMk/>
            <pc:sldMk cId="3083794139" sldId="1588"/>
            <ac:spMk id="29" creationId="{5A78D7AE-1BAF-F74B-803E-DB4C0E895254}"/>
          </ac:spMkLst>
        </pc:spChg>
        <pc:spChg chg="del">
          <ac:chgData name="Dr. Thorsten Kuhlmann" userId="1711f6b0-7186-4c64-9337-80febe2bb796" providerId="ADAL" clId="{544EE59F-F249-42EF-AFC0-583171F80966}" dt="2020-09-17T04:26:09.435" v="91" actId="478"/>
          <ac:spMkLst>
            <pc:docMk/>
            <pc:sldMk cId="3083794139" sldId="1588"/>
            <ac:spMk id="30" creationId="{9A41B623-A2D6-834B-A09E-FCBE9D27EA81}"/>
          </ac:spMkLst>
        </pc:spChg>
        <pc:spChg chg="mod">
          <ac:chgData name="Dr. Thorsten Kuhlmann" userId="1711f6b0-7186-4c64-9337-80febe2bb796" providerId="ADAL" clId="{544EE59F-F249-42EF-AFC0-583171F80966}" dt="2020-09-17T04:25:49.455" v="90" actId="20577"/>
          <ac:spMkLst>
            <pc:docMk/>
            <pc:sldMk cId="3083794139" sldId="1588"/>
            <ac:spMk id="31" creationId="{AE168783-B80A-5F49-A45C-D5B50A764175}"/>
          </ac:spMkLst>
        </pc:spChg>
      </pc:sldChg>
      <pc:sldChg chg="addSp delSp modSp add mod ord">
        <pc:chgData name="Dr. Thorsten Kuhlmann" userId="1711f6b0-7186-4c64-9337-80febe2bb796" providerId="ADAL" clId="{544EE59F-F249-42EF-AFC0-583171F80966}" dt="2020-09-17T04:32:21.247" v="321" actId="1076"/>
        <pc:sldMkLst>
          <pc:docMk/>
          <pc:sldMk cId="3653008487" sldId="1589"/>
        </pc:sldMkLst>
        <pc:spChg chg="mod">
          <ac:chgData name="Dr. Thorsten Kuhlmann" userId="1711f6b0-7186-4c64-9337-80febe2bb796" providerId="ADAL" clId="{544EE59F-F249-42EF-AFC0-583171F80966}" dt="2020-09-17T04:26:51.183" v="97"/>
          <ac:spMkLst>
            <pc:docMk/>
            <pc:sldMk cId="3653008487" sldId="1589"/>
            <ac:spMk id="2" creationId="{17B28DEC-59F7-B541-A2AC-BF06AB2051C1}"/>
          </ac:spMkLst>
        </pc:spChg>
        <pc:spChg chg="mod">
          <ac:chgData name="Dr. Thorsten Kuhlmann" userId="1711f6b0-7186-4c64-9337-80febe2bb796" providerId="ADAL" clId="{544EE59F-F249-42EF-AFC0-583171F80966}" dt="2020-09-17T04:32:21.247" v="321" actId="1076"/>
          <ac:spMkLst>
            <pc:docMk/>
            <pc:sldMk cId="3653008487" sldId="1589"/>
            <ac:spMk id="10" creationId="{799BCBF6-B510-564D-9C60-BE0B8D1A0621}"/>
          </ac:spMkLst>
        </pc:spChg>
        <pc:spChg chg="del">
          <ac:chgData name="Dr. Thorsten Kuhlmann" userId="1711f6b0-7186-4c64-9337-80febe2bb796" providerId="ADAL" clId="{544EE59F-F249-42EF-AFC0-583171F80966}" dt="2020-09-17T04:27:31.531" v="101" actId="478"/>
          <ac:spMkLst>
            <pc:docMk/>
            <pc:sldMk cId="3653008487" sldId="1589"/>
            <ac:spMk id="16" creationId="{E4F8A9F1-0F7B-A84C-A840-3EE7CD63150D}"/>
          </ac:spMkLst>
        </pc:spChg>
        <pc:spChg chg="del">
          <ac:chgData name="Dr. Thorsten Kuhlmann" userId="1711f6b0-7186-4c64-9337-80febe2bb796" providerId="ADAL" clId="{544EE59F-F249-42EF-AFC0-583171F80966}" dt="2020-09-17T04:27:31.531" v="101" actId="478"/>
          <ac:spMkLst>
            <pc:docMk/>
            <pc:sldMk cId="3653008487" sldId="1589"/>
            <ac:spMk id="18" creationId="{532BF5B2-1A0B-F545-B9AC-513ED6329233}"/>
          </ac:spMkLst>
        </pc:spChg>
        <pc:spChg chg="del">
          <ac:chgData name="Dr. Thorsten Kuhlmann" userId="1711f6b0-7186-4c64-9337-80febe2bb796" providerId="ADAL" clId="{544EE59F-F249-42EF-AFC0-583171F80966}" dt="2020-09-17T04:27:31.531" v="101" actId="478"/>
          <ac:spMkLst>
            <pc:docMk/>
            <pc:sldMk cId="3653008487" sldId="1589"/>
            <ac:spMk id="19" creationId="{1F115555-8814-1E4D-AB1A-23C4CB7C7C22}"/>
          </ac:spMkLst>
        </pc:spChg>
        <pc:spChg chg="del">
          <ac:chgData name="Dr. Thorsten Kuhlmann" userId="1711f6b0-7186-4c64-9337-80febe2bb796" providerId="ADAL" clId="{544EE59F-F249-42EF-AFC0-583171F80966}" dt="2020-09-17T04:27:31.531" v="101" actId="478"/>
          <ac:spMkLst>
            <pc:docMk/>
            <pc:sldMk cId="3653008487" sldId="1589"/>
            <ac:spMk id="20" creationId="{EA78C185-8B99-2D4B-89B5-D2DD9CFDAA4D}"/>
          </ac:spMkLst>
        </pc:spChg>
        <pc:spChg chg="del">
          <ac:chgData name="Dr. Thorsten Kuhlmann" userId="1711f6b0-7186-4c64-9337-80febe2bb796" providerId="ADAL" clId="{544EE59F-F249-42EF-AFC0-583171F80966}" dt="2020-09-17T04:27:31.531" v="101" actId="478"/>
          <ac:spMkLst>
            <pc:docMk/>
            <pc:sldMk cId="3653008487" sldId="1589"/>
            <ac:spMk id="32" creationId="{8D787D85-47A5-4C44-83CF-A79E2E27E032}"/>
          </ac:spMkLst>
        </pc:spChg>
        <pc:graphicFrameChg chg="add mod modGraphic">
          <ac:chgData name="Dr. Thorsten Kuhlmann" userId="1711f6b0-7186-4c64-9337-80febe2bb796" providerId="ADAL" clId="{544EE59F-F249-42EF-AFC0-583171F80966}" dt="2020-09-17T04:32:11.656" v="320" actId="1076"/>
          <ac:graphicFrameMkLst>
            <pc:docMk/>
            <pc:sldMk cId="3653008487" sldId="1589"/>
            <ac:graphicFrameMk id="5" creationId="{6D7B3A74-9DC1-4F70-926D-BA49B89DDF7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8C1B4BF-0364-4725-8783-FCDE9CFD64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E743BC8-3A28-4968-B1B6-461E127A2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68181D99-969C-440E-9A97-8B79C0663F93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0E6693-9C38-4E24-A053-F90EB1168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4AC6D1-ACE9-4A4A-A132-B24DE7C2F6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AD78C9FC-C613-4E1A-B8CD-0CC8D66C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3831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62667069-3294-4C37-9575-29589209FBF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57225" y="1793875"/>
            <a:ext cx="861218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7F5FA27A-CCAE-45BE-9F98-D660FFE5CF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8444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08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786A-91E1-100F-DBB3-9511BD51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F2350-B455-AF03-680D-2859120A5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AAE15-09E6-EDE1-A193-F17EF7BC8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AF11B-1FE3-E6AC-BC11-F14B6009F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0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AED32-0664-4D90-9001-69E65388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B71A0-DF07-C971-897F-66424FD61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43FAB-96DC-ECA9-F5CE-F8F111017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FB191-107C-B271-C420-74020FE5AF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65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15769-5A5C-4E56-C6A5-EDCD1382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303DC-4124-4305-B32F-58DFD6742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308B2-ECBD-24CD-E8BA-55FC804A2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04D9F-916C-AF85-FC3A-9B434F0D0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24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63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45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5274" y="4960137"/>
            <a:ext cx="8824779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5274" y="6470704"/>
            <a:ext cx="9705977" cy="274320"/>
          </a:xfrm>
        </p:spPr>
        <p:txBody>
          <a:bodyPr vert="horz" lIns="91440" tIns="45720" rIns="91440" bIns="45720" rtlCol="0" anchor="ctr"/>
          <a:lstStyle>
            <a:lvl1pPr>
              <a:defRPr lang="de-DE" smtClean="0">
                <a:latin typeface="Metropolis" pitchFamily="2" charset="77"/>
              </a:defRPr>
            </a:lvl1pPr>
          </a:lstStyle>
          <a:p>
            <a:pPr algn="l"/>
            <a:r>
              <a:rPr lang="de-DE"/>
              <a:t>Authorization Governance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Metropolis" pitchFamily="2" charset="77"/>
              </a:defRPr>
            </a:lvl1pPr>
          </a:lstStyle>
          <a:p>
            <a:fld id="{4FAB73BC-B049-4115-A692-8D63A059BFB8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404757" y="5264106"/>
            <a:ext cx="0" cy="9144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9759F79B-ABDC-4EBD-B075-F5B4AC0F70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89454" y="5264106"/>
            <a:ext cx="2012008" cy="77474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590E31C-70CC-4F2B-B746-B5DFC04592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89454" y="5264106"/>
            <a:ext cx="2012008" cy="774745"/>
          </a:xfrm>
          <a:prstGeom prst="rect">
            <a:avLst/>
          </a:prstGeom>
        </p:spPr>
      </p:pic>
      <p:pic>
        <p:nvPicPr>
          <p:cNvPr id="4" name="Grafik 3" descr="Ein Bild, das Gebäude, drinnen, Licht, Wand enthält.&#10;&#10;Automatisch generierte Beschreibung">
            <a:extLst>
              <a:ext uri="{FF2B5EF4-FFF2-40B4-BE49-F238E27FC236}">
                <a16:creationId xmlns:a16="http://schemas.microsoft.com/office/drawing/2014/main" id="{F1943C66-4D7C-4CB2-96CA-AEE299921F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572000"/>
          </a:xfrm>
          <a:prstGeom prst="rect">
            <a:avLst/>
          </a:prstGeom>
        </p:spPr>
      </p:pic>
      <p:pic>
        <p:nvPicPr>
          <p:cNvPr id="7" name="Grafik 6" descr="Ein Bild, das Gebäude, Fenster, Seite, groß enthält.&#10;&#10;Automatisch generierte Beschreibung">
            <a:extLst>
              <a:ext uri="{FF2B5EF4-FFF2-40B4-BE49-F238E27FC236}">
                <a16:creationId xmlns:a16="http://schemas.microsoft.com/office/drawing/2014/main" id="{ABDF11D1-A98C-A346-BC5B-829B1C698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0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9752" y="6470704"/>
            <a:ext cx="9691499" cy="274320"/>
          </a:xfrm>
        </p:spPr>
        <p:txBody>
          <a:bodyPr/>
          <a:lstStyle>
            <a:lvl1pPr algn="l">
              <a:defRPr>
                <a:latin typeface="Metropolis" pitchFamily="2" charset="77"/>
              </a:defRPr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tropolis" pitchFamily="2" charset="77"/>
              </a:defRPr>
            </a:lvl1pPr>
          </a:lstStyle>
          <a:p>
            <a:fld id="{4FAB73BC-B049-4115-A692-8D63A059BFB8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3A7212C-ADAE-40D4-A52F-14FCDAED9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424F0AC-5294-43C7-B7B0-1DDBEABF38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78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F4ECC23-D03F-3240-9AC6-872FFA9FED8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764704"/>
            <a:ext cx="12188952" cy="5706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9752" y="6470704"/>
            <a:ext cx="9691499" cy="274320"/>
          </a:xfrm>
        </p:spPr>
        <p:txBody>
          <a:bodyPr/>
          <a:lstStyle>
            <a:lvl1pPr algn="l">
              <a:defRPr>
                <a:latin typeface="Metropolis" pitchFamily="2" charset="77"/>
              </a:defRPr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tropolis" pitchFamily="2" charset="77"/>
              </a:defRPr>
            </a:lvl1pPr>
          </a:lstStyle>
          <a:p>
            <a:fld id="{4FAB73BC-B049-4115-A692-8D63A059BFB8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3A7212C-ADAE-40D4-A52F-14FCDAED9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424F0AC-5294-43C7-B7B0-1DDBEABF38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1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428759-BE04-4B66-8625-6AB10E37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5274" y="6470704"/>
            <a:ext cx="9705977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pic>
        <p:nvPicPr>
          <p:cNvPr id="13" name="Grafik 12" descr="Ein Bild, das Gebäude, drinnen, Licht, Wand enthält.&#10;&#10;Automatisch generierte Beschreibung">
            <a:extLst>
              <a:ext uri="{FF2B5EF4-FFF2-40B4-BE49-F238E27FC236}">
                <a16:creationId xmlns:a16="http://schemas.microsoft.com/office/drawing/2014/main" id="{13233022-2798-4F38-8D01-1218C598A2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572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C4FEBA2-3179-4857-89F0-57F9B5583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74" y="4960137"/>
            <a:ext cx="8824779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cxnSp>
        <p:nvCxnSpPr>
          <p:cNvPr id="15" name="Straight Connector 7">
            <a:extLst>
              <a:ext uri="{FF2B5EF4-FFF2-40B4-BE49-F238E27FC236}">
                <a16:creationId xmlns:a16="http://schemas.microsoft.com/office/drawing/2014/main" id="{FED212E0-876D-4A08-9706-7AB365719A57}"/>
              </a:ext>
            </a:extLst>
          </p:cNvPr>
          <p:cNvCxnSpPr/>
          <p:nvPr userDrawn="1"/>
        </p:nvCxnSpPr>
        <p:spPr>
          <a:xfrm flipV="1">
            <a:off x="9404757" y="5264106"/>
            <a:ext cx="0" cy="9144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fik 15">
            <a:extLst>
              <a:ext uri="{FF2B5EF4-FFF2-40B4-BE49-F238E27FC236}">
                <a16:creationId xmlns:a16="http://schemas.microsoft.com/office/drawing/2014/main" id="{243A9F5A-EA8D-4B79-87EE-2DEEED147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89454" y="5264106"/>
            <a:ext cx="2012008" cy="77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1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49" y="1228725"/>
            <a:ext cx="5550405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0592" y="1228725"/>
            <a:ext cx="5550405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9752" y="6470704"/>
            <a:ext cx="9691499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C7769A1-8DE7-43AD-856A-FA529E366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353C209-E271-4606-A136-EDA5019DC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52" y="328041"/>
            <a:ext cx="11501247" cy="5387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A9C8AAD-2722-440F-BBFF-197982CE2B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2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752" y="989011"/>
            <a:ext cx="5469256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752" y="1777163"/>
            <a:ext cx="5469256" cy="45760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86112" y="989011"/>
            <a:ext cx="5469256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86112" y="1777162"/>
            <a:ext cx="5469256" cy="45760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9752" y="6470704"/>
            <a:ext cx="9691499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3407ECD-EE4F-41A1-9427-01E21D85D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3FEB5DB-B7E1-47F3-AF6A-F272AC8CEB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58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9752" y="6470704"/>
            <a:ext cx="9691499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C386740-D06D-435B-8F74-6C25D6826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0F72250-5715-4525-8A31-F785E2DCA3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1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81F90AE-C771-44B2-94C0-2FC4EEECA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FDEFFC-BBA5-401E-9D25-7912E3B25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9752" y="6470704"/>
            <a:ext cx="969149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mtClean="0"/>
            </a:lvl1pPr>
          </a:lstStyle>
          <a:p>
            <a:r>
              <a:rPr lang="de-DE"/>
              <a:t>Authorization Governance Center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0E460D2-E709-4754-B15E-CF7C7C43FE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4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471509"/>
            <a:ext cx="5678424" cy="5536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de-DE" smtClean="0"/>
            </a:lvl1pPr>
          </a:lstStyle>
          <a:p>
            <a:fld id="{4FAB73BC-B049-4115-A692-8D63A059BFB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2CB453C-22B9-4219-9551-06CEB3B85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151CEFC-1C75-4F9C-A15B-74DF4334F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9752" y="6470704"/>
            <a:ext cx="969149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mtClean="0"/>
            </a:lvl1pPr>
          </a:lstStyle>
          <a:p>
            <a:r>
              <a:rPr lang="de-DE"/>
              <a:t>Authorization Governance Center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A0FE878-6EF8-4D40-A9A6-213CCC8B4A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0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5274" y="6470704"/>
            <a:ext cx="9705977" cy="274320"/>
          </a:xfrm>
        </p:spPr>
        <p:txBody>
          <a:bodyPr vert="horz" lIns="91440" tIns="45720" rIns="91440" bIns="45720" rtlCol="0" anchor="ctr"/>
          <a:lstStyle>
            <a:lvl1pPr>
              <a:defRPr lang="de-DE" smtClean="0"/>
            </a:lvl1pPr>
          </a:lstStyle>
          <a:p>
            <a:r>
              <a:rPr lang="de-DE"/>
              <a:t>Authorization Governance Center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D91EBA-CB49-44B4-9475-F4CED7F65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74" y="4960137"/>
            <a:ext cx="8824779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cxnSp>
        <p:nvCxnSpPr>
          <p:cNvPr id="11" name="Straight Connector 7">
            <a:extLst>
              <a:ext uri="{FF2B5EF4-FFF2-40B4-BE49-F238E27FC236}">
                <a16:creationId xmlns:a16="http://schemas.microsoft.com/office/drawing/2014/main" id="{8E7B0E90-6088-4A49-AC3D-AE7F432BD188}"/>
              </a:ext>
            </a:extLst>
          </p:cNvPr>
          <p:cNvCxnSpPr/>
          <p:nvPr userDrawn="1"/>
        </p:nvCxnSpPr>
        <p:spPr>
          <a:xfrm flipV="1">
            <a:off x="9404757" y="5264106"/>
            <a:ext cx="0" cy="9144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96DD5E22-44DE-43D2-9F71-51AB77A910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89454" y="5264106"/>
            <a:ext cx="2012008" cy="77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92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9752" y="6470704"/>
            <a:ext cx="9691499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2C718A1-FBE3-4DF6-98E8-AE2F362D5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099B9E8-02DC-406D-BBCA-5C8EB8D413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37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815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85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1C8CC31-D00F-4E25-BAEC-62BC7A35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4249FDA-2F96-46D0-87DB-AC67A711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752" y="6470704"/>
            <a:ext cx="9691499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5082D8A-63E3-40CE-B704-A8727A5BA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21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5274" y="6470704"/>
            <a:ext cx="9705977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C9D1351-0DB3-4FDF-8B52-4B1C399FB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74" y="4960137"/>
            <a:ext cx="8824779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cxnSp>
        <p:nvCxnSpPr>
          <p:cNvPr id="14" name="Straight Connector 7">
            <a:extLst>
              <a:ext uri="{FF2B5EF4-FFF2-40B4-BE49-F238E27FC236}">
                <a16:creationId xmlns:a16="http://schemas.microsoft.com/office/drawing/2014/main" id="{5F0AC10C-DADC-4083-9D62-22C286A01EE2}"/>
              </a:ext>
            </a:extLst>
          </p:cNvPr>
          <p:cNvCxnSpPr/>
          <p:nvPr userDrawn="1"/>
        </p:nvCxnSpPr>
        <p:spPr>
          <a:xfrm flipV="1">
            <a:off x="9404757" y="5264106"/>
            <a:ext cx="0" cy="9144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8054834B-B0BF-4D65-A365-58C2E664A1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89454" y="5264106"/>
            <a:ext cx="2012008" cy="774745"/>
          </a:xfrm>
          <a:prstGeom prst="rect">
            <a:avLst/>
          </a:prstGeom>
        </p:spPr>
      </p:pic>
      <p:pic>
        <p:nvPicPr>
          <p:cNvPr id="16" name="Grafik 15" descr="Ein Bild, das Gebäude, drinnen, Licht, Wand enthält.&#10;&#10;Automatisch generierte Beschreibung">
            <a:extLst>
              <a:ext uri="{FF2B5EF4-FFF2-40B4-BE49-F238E27FC236}">
                <a16:creationId xmlns:a16="http://schemas.microsoft.com/office/drawing/2014/main" id="{DC571EC7-C893-4F1C-93C2-FE81B262BB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57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428759-BE04-4B66-8625-6AB10E37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5274" y="6470704"/>
            <a:ext cx="9705977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63104DB-7FDF-4B46-BDF6-85408632C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74" y="4960137"/>
            <a:ext cx="8824779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cxnSp>
        <p:nvCxnSpPr>
          <p:cNvPr id="14" name="Straight Connector 7">
            <a:extLst>
              <a:ext uri="{FF2B5EF4-FFF2-40B4-BE49-F238E27FC236}">
                <a16:creationId xmlns:a16="http://schemas.microsoft.com/office/drawing/2014/main" id="{3F31EE67-2DE6-4EDB-9F16-4271FA388885}"/>
              </a:ext>
            </a:extLst>
          </p:cNvPr>
          <p:cNvCxnSpPr/>
          <p:nvPr userDrawn="1"/>
        </p:nvCxnSpPr>
        <p:spPr>
          <a:xfrm flipV="1">
            <a:off x="9404757" y="5264106"/>
            <a:ext cx="0" cy="9144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3D18AE84-4AEC-4874-BC78-68C5FC2EEA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89454" y="5264106"/>
            <a:ext cx="2012008" cy="774745"/>
          </a:xfrm>
          <a:prstGeom prst="rect">
            <a:avLst/>
          </a:prstGeom>
        </p:spPr>
      </p:pic>
      <p:pic>
        <p:nvPicPr>
          <p:cNvPr id="16" name="Grafik 15" descr="Ein Bild, das Gebäude, drinnen, Licht, Wand enthält.&#10;&#10;Automatisch generierte Beschreibung">
            <a:extLst>
              <a:ext uri="{FF2B5EF4-FFF2-40B4-BE49-F238E27FC236}">
                <a16:creationId xmlns:a16="http://schemas.microsoft.com/office/drawing/2014/main" id="{21086B21-A1BB-411A-B093-4085AD185B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57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49" y="1228725"/>
            <a:ext cx="5550405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0592" y="1228725"/>
            <a:ext cx="5550405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9752" y="6470704"/>
            <a:ext cx="9691499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C7769A1-8DE7-43AD-856A-FA529E366A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353C209-E271-4606-A136-EDA5019DC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52" y="328041"/>
            <a:ext cx="11501247" cy="5387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mplett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676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5274" y="6470704"/>
            <a:ext cx="9705977" cy="27432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D930642-EA68-4239-A9E8-3BC0D9635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74" y="4960137"/>
            <a:ext cx="7867803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662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9752" y="328041"/>
            <a:ext cx="11501247" cy="5387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752" y="971550"/>
            <a:ext cx="9691499" cy="533781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9752" y="6470704"/>
            <a:ext cx="969149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cap="all" baseline="0" smtClean="0">
                <a:solidFill>
                  <a:schemeClr val="tx1">
                    <a:lumMod val="95000"/>
                    <a:lumOff val="5000"/>
                  </a:schemeClr>
                </a:solidFill>
                <a:latin typeface="Metropolis" pitchFamily="2" charset="77"/>
              </a:defRPr>
            </a:lvl1pPr>
          </a:lstStyle>
          <a:p>
            <a:r>
              <a:rPr lang="de-DE"/>
              <a:t>Authorization Governance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63325" y="6470704"/>
            <a:ext cx="67627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>
                    <a:lumMod val="95000"/>
                    <a:lumOff val="5000"/>
                  </a:schemeClr>
                </a:solidFill>
                <a:latin typeface="Metropolis" pitchFamily="2" charset="77"/>
              </a:defRPr>
            </a:lvl1pPr>
          </a:lstStyle>
          <a:p>
            <a:fld id="{4FAB73BC-B049-4115-A692-8D63A059BFB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4C3D20A-C4E0-4362-BFDD-95A3BEC9D83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6C7415C-4977-4319-945C-4B3AC1C51C3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6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4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49" r:id="rId13"/>
    <p:sldLayoutId id="2147483651" r:id="rId14"/>
    <p:sldLayoutId id="2147483652" r:id="rId15"/>
    <p:sldLayoutId id="2147483673" r:id="rId16"/>
    <p:sldLayoutId id="2147483660" r:id="rId17"/>
    <p:sldLayoutId id="2147483675" r:id="rId18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1000logos.net/haribo-logo/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6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svg"/><Relationship Id="rId5" Type="http://schemas.openxmlformats.org/officeDocument/2006/relationships/image" Target="../media/image13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320C152-75BF-0960-5276-B815FE4B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74" y="4960137"/>
            <a:ext cx="8824779" cy="1414030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 pitchFamily="2" charset="77"/>
              </a:rPr>
              <a:t>SAP BDC AUTHORIZATION</a:t>
            </a:r>
            <a:br>
              <a:rPr 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 pitchFamily="2" charset="77"/>
              </a:rPr>
            </a:br>
            <a:r>
              <a:rPr lang="en-US" sz="1600" b="1" dirty="0">
                <a:solidFill>
                  <a:srgbClr val="E16E15"/>
                </a:solidFill>
                <a:latin typeface="Metropolis" pitchFamily="2" charset="77"/>
              </a:rPr>
              <a:t>A guided platform for role-based Data access </a:t>
            </a:r>
            <a:endParaRPr lang="de-DE" dirty="0">
              <a:solidFill>
                <a:srgbClr val="E16E1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80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4A905-0790-DAFE-0A17-BB5A6ED35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  <a:cs typeface="+mn-cs"/>
              </a:rPr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33582C-C694-5BF4-38D0-C84A6DFF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8ED28EED-FAB7-DD74-B3EB-4D1F831CE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528166"/>
              </p:ext>
            </p:extLst>
          </p:nvPr>
        </p:nvGraphicFramePr>
        <p:xfrm>
          <a:off x="372862" y="1440321"/>
          <a:ext cx="10786276" cy="22284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03681">
                  <a:extLst>
                    <a:ext uri="{9D8B030D-6E8A-4147-A177-3AD203B41FA5}">
                      <a16:colId xmlns:a16="http://schemas.microsoft.com/office/drawing/2014/main" val="2881810064"/>
                    </a:ext>
                  </a:extLst>
                </a:gridCol>
                <a:gridCol w="10182595">
                  <a:extLst>
                    <a:ext uri="{9D8B030D-6E8A-4147-A177-3AD203B41FA5}">
                      <a16:colId xmlns:a16="http://schemas.microsoft.com/office/drawing/2014/main" val="1267006391"/>
                    </a:ext>
                  </a:extLst>
                </a:gridCol>
              </a:tblGrid>
              <a:tr h="742806">
                <a:tc>
                  <a:txBody>
                    <a:bodyPr/>
                    <a:lstStyle/>
                    <a:p>
                      <a:pPr algn="l"/>
                      <a:r>
                        <a:rPr lang="de-DE" sz="2800" dirty="0">
                          <a:latin typeface="Metropolis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800" dirty="0">
                          <a:latin typeface="Metropolis"/>
                        </a:rPr>
                        <a:t>Challenge: </a:t>
                      </a:r>
                      <a:r>
                        <a:rPr lang="de-DE" sz="2800" dirty="0" err="1">
                          <a:latin typeface="Metropolis"/>
                        </a:rPr>
                        <a:t>What</a:t>
                      </a:r>
                      <a:r>
                        <a:rPr lang="de-DE" sz="2800" dirty="0">
                          <a:latin typeface="Metropolis"/>
                        </a:rPr>
                        <a:t> </a:t>
                      </a:r>
                      <a:r>
                        <a:rPr lang="de-DE" sz="2800" dirty="0" err="1">
                          <a:latin typeface="Metropolis"/>
                        </a:rPr>
                        <a:t>authorizations</a:t>
                      </a:r>
                      <a:r>
                        <a:rPr lang="de-DE" sz="2800" dirty="0">
                          <a:latin typeface="Metropolis"/>
                        </a:rPr>
                        <a:t> </a:t>
                      </a:r>
                      <a:r>
                        <a:rPr lang="de-DE" sz="2800" dirty="0" err="1">
                          <a:latin typeface="Metropolis"/>
                        </a:rPr>
                        <a:t>assignment</a:t>
                      </a:r>
                      <a:r>
                        <a:rPr lang="de-DE" sz="2800" dirty="0">
                          <a:latin typeface="Metropolis"/>
                        </a:rPr>
                        <a:t> </a:t>
                      </a:r>
                      <a:r>
                        <a:rPr lang="de-DE" sz="2800" dirty="0" err="1">
                          <a:latin typeface="Metropolis"/>
                        </a:rPr>
                        <a:t>often</a:t>
                      </a:r>
                      <a:r>
                        <a:rPr lang="de-DE" sz="2800" dirty="0">
                          <a:latin typeface="Metropolis"/>
                        </a:rPr>
                        <a:t> </a:t>
                      </a:r>
                      <a:r>
                        <a:rPr lang="de-DE" sz="2800" dirty="0" err="1">
                          <a:latin typeface="Metropolis"/>
                        </a:rPr>
                        <a:t>looks</a:t>
                      </a:r>
                      <a:r>
                        <a:rPr lang="de-DE" sz="2800" dirty="0">
                          <a:latin typeface="Metropolis"/>
                        </a:rPr>
                        <a:t> like </a:t>
                      </a:r>
                      <a:r>
                        <a:rPr lang="de-DE" sz="2800" dirty="0" err="1">
                          <a:latin typeface="Metropolis"/>
                        </a:rPr>
                        <a:t>today</a:t>
                      </a:r>
                      <a:endParaRPr lang="de-DE" sz="2800" dirty="0">
                        <a:latin typeface="Metropoli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03127"/>
                  </a:ext>
                </a:extLst>
              </a:tr>
              <a:tr h="742806">
                <a:tc>
                  <a:txBody>
                    <a:bodyPr/>
                    <a:lstStyle/>
                    <a:p>
                      <a:pPr algn="l"/>
                      <a:r>
                        <a:rPr lang="de-DE" sz="2800" dirty="0">
                          <a:latin typeface="Metropolis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800" dirty="0">
                          <a:latin typeface="Metropolis"/>
                        </a:rPr>
                        <a:t>Solution </a:t>
                      </a:r>
                      <a:r>
                        <a:rPr lang="de-DE" sz="2800" dirty="0" err="1">
                          <a:latin typeface="Metropolis"/>
                        </a:rPr>
                        <a:t>overview</a:t>
                      </a:r>
                      <a:endParaRPr lang="de-DE" sz="2800" dirty="0">
                        <a:latin typeface="Metropoli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150761"/>
                  </a:ext>
                </a:extLst>
              </a:tr>
              <a:tr h="742806">
                <a:tc>
                  <a:txBody>
                    <a:bodyPr/>
                    <a:lstStyle/>
                    <a:p>
                      <a:pPr algn="l"/>
                      <a:r>
                        <a:rPr lang="de-DE" sz="2800" dirty="0">
                          <a:latin typeface="Metropolis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800" dirty="0">
                          <a:latin typeface="Metropolis"/>
                        </a:rPr>
                        <a:t>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425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45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Challenge: </a:t>
            </a:r>
            <a:r>
              <a:rPr lang="de-DE" sz="2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What</a:t>
            </a:r>
            <a:r>
              <a:rPr lang="de-DE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 </a:t>
            </a:r>
            <a:r>
              <a:rPr lang="de-DE" sz="2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authorization</a:t>
            </a:r>
            <a:r>
              <a:rPr lang="de-DE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 </a:t>
            </a:r>
            <a:r>
              <a:rPr lang="de-DE" sz="2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process</a:t>
            </a:r>
            <a:r>
              <a:rPr lang="de-DE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 </a:t>
            </a:r>
            <a:r>
              <a:rPr lang="de-DE" sz="2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often</a:t>
            </a:r>
            <a:r>
              <a:rPr lang="de-DE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 </a:t>
            </a:r>
            <a:r>
              <a:rPr lang="de-DE" sz="2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looks</a:t>
            </a:r>
            <a:r>
              <a:rPr lang="de-DE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 like </a:t>
            </a:r>
            <a:r>
              <a:rPr lang="de-DE" sz="2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today</a:t>
            </a:r>
            <a:endParaRPr lang="de-DE" sz="2800" b="1" dirty="0">
              <a:solidFill>
                <a:schemeClr val="tx1">
                  <a:lumMod val="50000"/>
                  <a:lumOff val="50000"/>
                </a:schemeClr>
              </a:solidFill>
              <a:latin typeface="Metropolis"/>
              <a:ea typeface="Cambria" pitchFamily="34" charset="-122"/>
            </a:endParaRPr>
          </a:p>
          <a:p>
            <a:pPr marL="0" indent="0">
              <a:buNone/>
            </a:pPr>
            <a:endParaRPr lang="en-US" sz="2800" b="1" dirty="0">
              <a:solidFill>
                <a:schemeClr val="tx1">
                  <a:lumMod val="50000"/>
                  <a:lumOff val="50000"/>
                </a:schemeClr>
              </a:solidFill>
              <a:latin typeface="Metropolis"/>
              <a:ea typeface="Cambria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Three observed pattern</a:t>
            </a:r>
            <a:endParaRPr lang="en-US" sz="1400" dirty="0">
              <a:latin typeface="Metropolis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>
              <a:latin typeface="Metropolis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>
              <a:latin typeface="Metropolis"/>
            </a:endParaRP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A7A525E0-3E45-8C69-8DB1-62C46B3290F6}"/>
              </a:ext>
            </a:extLst>
          </p:cNvPr>
          <p:cNvGrpSpPr/>
          <p:nvPr/>
        </p:nvGrpSpPr>
        <p:grpSpPr>
          <a:xfrm>
            <a:off x="1627632" y="1504188"/>
            <a:ext cx="2487168" cy="4480560"/>
            <a:chOff x="2279785" y="1664208"/>
            <a:chExt cx="2487168" cy="4480560"/>
          </a:xfrm>
        </p:grpSpPr>
        <p:sp>
          <p:nvSpPr>
            <p:cNvPr id="25" name="Shape 10">
              <a:extLst>
                <a:ext uri="{FF2B5EF4-FFF2-40B4-BE49-F238E27FC236}">
                  <a16:creationId xmlns:a16="http://schemas.microsoft.com/office/drawing/2014/main" id="{8B3721A2-FEF1-AFF1-81B1-18E3F214926F}"/>
                </a:ext>
              </a:extLst>
            </p:cNvPr>
            <p:cNvSpPr/>
            <p:nvPr/>
          </p:nvSpPr>
          <p:spPr>
            <a:xfrm>
              <a:off x="2279785" y="1664208"/>
              <a:ext cx="2487168" cy="448056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2700">
              <a:solidFill>
                <a:srgbClr val="E3E7F0"/>
              </a:solidFill>
              <a:prstDash val="solid"/>
            </a:ln>
            <a:effectLst>
              <a:outerShdw blurRad="101600" dist="38100" dir="5400000" algn="bl" rotWithShape="0">
                <a:srgbClr val="1E2761">
                  <a:alpha val="12000"/>
                </a:srgbClr>
              </a:outerShdw>
            </a:effectLst>
          </p:spPr>
          <p:txBody>
            <a:bodyPr/>
            <a:lstStyle/>
            <a:p>
              <a:endParaRPr lang="de-DE">
                <a:latin typeface="Metropolis"/>
              </a:endParaRPr>
            </a:p>
          </p:txBody>
        </p:sp>
        <p:sp>
          <p:nvSpPr>
            <p:cNvPr id="27" name="Shape 11">
              <a:extLst>
                <a:ext uri="{FF2B5EF4-FFF2-40B4-BE49-F238E27FC236}">
                  <a16:creationId xmlns:a16="http://schemas.microsoft.com/office/drawing/2014/main" id="{391D86B7-7EC6-33E4-B7CB-4C8970462B4F}"/>
                </a:ext>
              </a:extLst>
            </p:cNvPr>
            <p:cNvSpPr/>
            <p:nvPr/>
          </p:nvSpPr>
          <p:spPr>
            <a:xfrm>
              <a:off x="3139321" y="1993392"/>
              <a:ext cx="768096" cy="768096"/>
            </a:xfrm>
            <a:prstGeom prst="ellipse">
              <a:avLst/>
            </a:prstGeom>
            <a:solidFill>
              <a:srgbClr val="E16E15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Text 12">
              <a:extLst>
                <a:ext uri="{FF2B5EF4-FFF2-40B4-BE49-F238E27FC236}">
                  <a16:creationId xmlns:a16="http://schemas.microsoft.com/office/drawing/2014/main" id="{8B26704D-71EF-D53E-E355-74937DF25930}"/>
                </a:ext>
              </a:extLst>
            </p:cNvPr>
            <p:cNvSpPr/>
            <p:nvPr/>
          </p:nvSpPr>
          <p:spPr>
            <a:xfrm>
              <a:off x="2444377" y="2990088"/>
              <a:ext cx="2157984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Metropolis"/>
                  <a:ea typeface="Cambria" pitchFamily="34" charset="-122"/>
                </a:rPr>
                <a:t>Centralized</a:t>
              </a:r>
              <a:endParaRPr lang="en-US" sz="1500" dirty="0">
                <a:latin typeface="Metropolis"/>
              </a:endParaRPr>
            </a:p>
          </p:txBody>
        </p:sp>
        <p:sp>
          <p:nvSpPr>
            <p:cNvPr id="35" name="Text 13">
              <a:extLst>
                <a:ext uri="{FF2B5EF4-FFF2-40B4-BE49-F238E27FC236}">
                  <a16:creationId xmlns:a16="http://schemas.microsoft.com/office/drawing/2014/main" id="{2E88BA17-9A7B-98FE-720B-F3509114BFDA}"/>
                </a:ext>
              </a:extLst>
            </p:cNvPr>
            <p:cNvSpPr/>
            <p:nvPr/>
          </p:nvSpPr>
          <p:spPr>
            <a:xfrm>
              <a:off x="2480953" y="3538728"/>
              <a:ext cx="2084832" cy="23774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5B6377"/>
                  </a:solidFill>
                  <a:latin typeface="Metropolis"/>
                  <a:ea typeface="Calibri" pitchFamily="34" charset="-122"/>
                  <a:cs typeface="Calibri" pitchFamily="34" charset="-120"/>
                </a:rPr>
                <a:t>Authorizations are maintained and </a:t>
              </a:r>
              <a:r>
                <a:rPr lang="en-US" sz="1150" dirty="0" err="1">
                  <a:solidFill>
                    <a:srgbClr val="5B6377"/>
                  </a:solidFill>
                  <a:latin typeface="Metropolis"/>
                  <a:ea typeface="Calibri" pitchFamily="34" charset="-122"/>
                  <a:cs typeface="Calibri" pitchFamily="34" charset="-120"/>
                </a:rPr>
                <a:t>assignt</a:t>
              </a:r>
              <a:r>
                <a:rPr lang="en-US" sz="1150" dirty="0">
                  <a:solidFill>
                    <a:srgbClr val="5B6377"/>
                  </a:solidFill>
                  <a:latin typeface="Metropolis"/>
                  <a:ea typeface="Calibri" pitchFamily="34" charset="-122"/>
                  <a:cs typeface="Calibri" pitchFamily="34" charset="-120"/>
                </a:rPr>
                <a:t> centrally through IT, First Level Support, Authorization Team</a:t>
              </a:r>
            </a:p>
          </p:txBody>
        </p:sp>
        <p:pic>
          <p:nvPicPr>
            <p:cNvPr id="57" name="Grafik 56" descr="Netzwerk Silhouette">
              <a:extLst>
                <a:ext uri="{FF2B5EF4-FFF2-40B4-BE49-F238E27FC236}">
                  <a16:creationId xmlns:a16="http://schemas.microsoft.com/office/drawing/2014/main" id="{A3A6337A-FDED-78D6-E852-826D0EEFB5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10345" y="2055006"/>
              <a:ext cx="630936" cy="630936"/>
            </a:xfrm>
            <a:prstGeom prst="rect">
              <a:avLst/>
            </a:prstGeom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D49C1BD3-3FAE-65E3-B50C-7C2F13827B3C}"/>
              </a:ext>
            </a:extLst>
          </p:cNvPr>
          <p:cNvGrpSpPr/>
          <p:nvPr/>
        </p:nvGrpSpPr>
        <p:grpSpPr>
          <a:xfrm>
            <a:off x="5124251" y="1504188"/>
            <a:ext cx="2487168" cy="4480560"/>
            <a:chOff x="6096000" y="1664208"/>
            <a:chExt cx="2487168" cy="4480560"/>
          </a:xfrm>
        </p:grpSpPr>
        <p:sp>
          <p:nvSpPr>
            <p:cNvPr id="60" name="Shape 10">
              <a:extLst>
                <a:ext uri="{FF2B5EF4-FFF2-40B4-BE49-F238E27FC236}">
                  <a16:creationId xmlns:a16="http://schemas.microsoft.com/office/drawing/2014/main" id="{A7A18873-6264-78C5-7A5B-C6D88155E4E8}"/>
                </a:ext>
              </a:extLst>
            </p:cNvPr>
            <p:cNvSpPr/>
            <p:nvPr/>
          </p:nvSpPr>
          <p:spPr>
            <a:xfrm>
              <a:off x="6096000" y="1664208"/>
              <a:ext cx="2487168" cy="448056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2700">
              <a:solidFill>
                <a:srgbClr val="E3E7F0"/>
              </a:solidFill>
              <a:prstDash val="solid"/>
            </a:ln>
            <a:effectLst>
              <a:outerShdw blurRad="101600" dist="38100" dir="5400000" algn="bl" rotWithShape="0">
                <a:srgbClr val="1E2761">
                  <a:alpha val="12000"/>
                </a:srgbClr>
              </a:outerShdw>
            </a:effectLst>
          </p:spPr>
          <p:txBody>
            <a:bodyPr/>
            <a:lstStyle/>
            <a:p>
              <a:endParaRPr lang="de-DE">
                <a:latin typeface="Metropolis"/>
              </a:endParaRPr>
            </a:p>
          </p:txBody>
        </p:sp>
        <p:sp>
          <p:nvSpPr>
            <p:cNvPr id="62" name="Shape 11">
              <a:extLst>
                <a:ext uri="{FF2B5EF4-FFF2-40B4-BE49-F238E27FC236}">
                  <a16:creationId xmlns:a16="http://schemas.microsoft.com/office/drawing/2014/main" id="{C0102F3B-8442-F4F1-9E8D-D78D2F4C7135}"/>
                </a:ext>
              </a:extLst>
            </p:cNvPr>
            <p:cNvSpPr/>
            <p:nvPr/>
          </p:nvSpPr>
          <p:spPr>
            <a:xfrm>
              <a:off x="6955536" y="1993392"/>
              <a:ext cx="768096" cy="768096"/>
            </a:xfrm>
            <a:prstGeom prst="ellipse">
              <a:avLst/>
            </a:prstGeom>
            <a:solidFill>
              <a:srgbClr val="E16E15"/>
            </a:solidFill>
            <a:ln/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64" name="Text 12">
              <a:extLst>
                <a:ext uri="{FF2B5EF4-FFF2-40B4-BE49-F238E27FC236}">
                  <a16:creationId xmlns:a16="http://schemas.microsoft.com/office/drawing/2014/main" id="{AFCCD966-9C2D-4BF8-6C35-8EB85896810A}"/>
                </a:ext>
              </a:extLst>
            </p:cNvPr>
            <p:cNvSpPr/>
            <p:nvPr/>
          </p:nvSpPr>
          <p:spPr>
            <a:xfrm>
              <a:off x="6260592" y="2990088"/>
              <a:ext cx="2157984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Metropolis"/>
                  <a:ea typeface="Cambria" pitchFamily="34" charset="-122"/>
                </a:rPr>
                <a:t>Files</a:t>
              </a:r>
              <a:endParaRPr lang="en-US" sz="1500" dirty="0">
                <a:latin typeface="Metropolis"/>
              </a:endParaRPr>
            </a:p>
          </p:txBody>
        </p:sp>
        <p:sp>
          <p:nvSpPr>
            <p:cNvPr id="66" name="Text 13">
              <a:extLst>
                <a:ext uri="{FF2B5EF4-FFF2-40B4-BE49-F238E27FC236}">
                  <a16:creationId xmlns:a16="http://schemas.microsoft.com/office/drawing/2014/main" id="{D766C0FA-1874-B07C-F512-2FBEAAB4B624}"/>
                </a:ext>
              </a:extLst>
            </p:cNvPr>
            <p:cNvSpPr/>
            <p:nvPr/>
          </p:nvSpPr>
          <p:spPr>
            <a:xfrm>
              <a:off x="6297168" y="3538728"/>
              <a:ext cx="2084832" cy="23774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5B6377"/>
                  </a:solidFill>
                  <a:latin typeface="Metropolis"/>
                  <a:ea typeface="Calibri" pitchFamily="34" charset="-122"/>
                  <a:cs typeface="Calibri" pitchFamily="34" charset="-120"/>
                </a:rPr>
                <a:t>All authorizations and assignments are maintained in csv or excel files and uploaded into the system</a:t>
              </a:r>
            </a:p>
          </p:txBody>
        </p:sp>
        <p:pic>
          <p:nvPicPr>
            <p:cNvPr id="70" name="Grafik 69" descr="Dokument Silhouette">
              <a:extLst>
                <a:ext uri="{FF2B5EF4-FFF2-40B4-BE49-F238E27FC236}">
                  <a16:creationId xmlns:a16="http://schemas.microsoft.com/office/drawing/2014/main" id="{2B41448F-5F76-00E4-406B-E816B978ED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75501" y="2109128"/>
              <a:ext cx="527452" cy="527452"/>
            </a:xfrm>
            <a:prstGeom prst="rect">
              <a:avLst/>
            </a:prstGeom>
          </p:spPr>
        </p:pic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94CFA108-9D70-C418-0F2E-2AA815AD66CB}"/>
              </a:ext>
            </a:extLst>
          </p:cNvPr>
          <p:cNvGrpSpPr/>
          <p:nvPr/>
        </p:nvGrpSpPr>
        <p:grpSpPr>
          <a:xfrm>
            <a:off x="8620870" y="1504188"/>
            <a:ext cx="2487168" cy="4480560"/>
            <a:chOff x="6096000" y="1664208"/>
            <a:chExt cx="2487168" cy="4480560"/>
          </a:xfrm>
        </p:grpSpPr>
        <p:sp>
          <p:nvSpPr>
            <p:cNvPr id="76" name="Shape 10">
              <a:extLst>
                <a:ext uri="{FF2B5EF4-FFF2-40B4-BE49-F238E27FC236}">
                  <a16:creationId xmlns:a16="http://schemas.microsoft.com/office/drawing/2014/main" id="{A71F83C2-ACDE-905C-A7CF-A0B72D398C21}"/>
                </a:ext>
              </a:extLst>
            </p:cNvPr>
            <p:cNvSpPr/>
            <p:nvPr/>
          </p:nvSpPr>
          <p:spPr>
            <a:xfrm>
              <a:off x="6096000" y="1664208"/>
              <a:ext cx="2487168" cy="448056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2700">
              <a:solidFill>
                <a:srgbClr val="E3E7F0"/>
              </a:solidFill>
              <a:prstDash val="solid"/>
            </a:ln>
            <a:effectLst>
              <a:outerShdw blurRad="101600" dist="38100" dir="5400000" algn="bl" rotWithShape="0">
                <a:srgbClr val="1E2761">
                  <a:alpha val="12000"/>
                </a:srgbClr>
              </a:outerShdw>
            </a:effectLst>
          </p:spPr>
          <p:txBody>
            <a:bodyPr/>
            <a:lstStyle/>
            <a:p>
              <a:endParaRPr lang="de-DE">
                <a:latin typeface="Metropolis"/>
              </a:endParaRPr>
            </a:p>
          </p:txBody>
        </p:sp>
        <p:sp>
          <p:nvSpPr>
            <p:cNvPr id="77" name="Shape 11">
              <a:extLst>
                <a:ext uri="{FF2B5EF4-FFF2-40B4-BE49-F238E27FC236}">
                  <a16:creationId xmlns:a16="http://schemas.microsoft.com/office/drawing/2014/main" id="{7F6A53A9-7F7E-4393-3D36-D24746AE3CC8}"/>
                </a:ext>
              </a:extLst>
            </p:cNvPr>
            <p:cNvSpPr/>
            <p:nvPr/>
          </p:nvSpPr>
          <p:spPr>
            <a:xfrm>
              <a:off x="6955536" y="1993392"/>
              <a:ext cx="768096" cy="768096"/>
            </a:xfrm>
            <a:prstGeom prst="ellipse">
              <a:avLst/>
            </a:prstGeom>
            <a:solidFill>
              <a:srgbClr val="E16E15"/>
            </a:solidFill>
            <a:ln/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78" name="Text 12">
              <a:extLst>
                <a:ext uri="{FF2B5EF4-FFF2-40B4-BE49-F238E27FC236}">
                  <a16:creationId xmlns:a16="http://schemas.microsoft.com/office/drawing/2014/main" id="{40EB64A5-C591-5319-2EF0-A47919C20332}"/>
                </a:ext>
              </a:extLst>
            </p:cNvPr>
            <p:cNvSpPr/>
            <p:nvPr/>
          </p:nvSpPr>
          <p:spPr>
            <a:xfrm>
              <a:off x="6260592" y="2990088"/>
              <a:ext cx="2157984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Metropolis"/>
                  <a:ea typeface="Cambria" pitchFamily="34" charset="-122"/>
                </a:rPr>
                <a:t>Template</a:t>
              </a:r>
              <a:endParaRPr lang="en-US" sz="1500" dirty="0">
                <a:latin typeface="Metropolis"/>
              </a:endParaRPr>
            </a:p>
          </p:txBody>
        </p:sp>
        <p:sp>
          <p:nvSpPr>
            <p:cNvPr id="79" name="Text 13">
              <a:extLst>
                <a:ext uri="{FF2B5EF4-FFF2-40B4-BE49-F238E27FC236}">
                  <a16:creationId xmlns:a16="http://schemas.microsoft.com/office/drawing/2014/main" id="{E4CF2C7D-7E23-2FC6-D499-5E751F4A5409}"/>
                </a:ext>
              </a:extLst>
            </p:cNvPr>
            <p:cNvSpPr/>
            <p:nvPr/>
          </p:nvSpPr>
          <p:spPr>
            <a:xfrm>
              <a:off x="6297168" y="3538728"/>
              <a:ext cx="2084832" cy="23774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5B6377"/>
                  </a:solidFill>
                  <a:latin typeface="Metropolis"/>
                  <a:ea typeface="Calibri" pitchFamily="34" charset="-122"/>
                  <a:cs typeface="Calibri" pitchFamily="34" charset="-120"/>
                </a:rPr>
                <a:t>Every role name follows defined template structure and has required sub-set of restriction fields.</a:t>
              </a:r>
            </a:p>
          </p:txBody>
        </p:sp>
      </p:grpSp>
      <p:pic>
        <p:nvPicPr>
          <p:cNvPr id="82" name="Grafik 81" descr="Morsecode mit einfarbiger Füllung">
            <a:extLst>
              <a:ext uri="{FF2B5EF4-FFF2-40B4-BE49-F238E27FC236}">
                <a16:creationId xmlns:a16="http://schemas.microsoft.com/office/drawing/2014/main" id="{313E8AE5-5281-9285-88AA-D5A7A9122E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3808" y="1949108"/>
            <a:ext cx="548641" cy="54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5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C8B9-8FBD-B939-D964-986BEF85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D47F29-0C3B-2639-365D-1835A51DBD50}"/>
              </a:ext>
            </a:extLst>
          </p:cNvPr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Data Access Control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17ECCF-F9F1-21C8-0287-049EC6E436A6}"/>
              </a:ext>
            </a:extLst>
          </p:cNvPr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R</a:t>
            </a:r>
            <a:r>
              <a:rPr lang="de-DE" sz="1400" dirty="0" err="1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ow</a:t>
            </a:r>
            <a:r>
              <a:rPr lang="de-DE" sz="14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-level </a:t>
            </a:r>
            <a:r>
              <a:rPr lang="de-DE" sz="1400" dirty="0" err="1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security</a:t>
            </a:r>
            <a:r>
              <a:rPr lang="de-DE" sz="14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400" dirty="0" err="1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to</a:t>
            </a:r>
            <a:r>
              <a:rPr lang="de-DE" sz="14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400" dirty="0" err="1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your</a:t>
            </a:r>
            <a:r>
              <a:rPr lang="de-DE" sz="14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400" dirty="0" err="1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objects</a:t>
            </a:r>
            <a:r>
              <a:rPr lang="de-DE" sz="14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 in SAP BDC</a:t>
            </a:r>
            <a:endParaRPr lang="en-US" sz="1400" dirty="0">
              <a:latin typeface="Metropolis"/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30CCDEB1-BA80-72AA-53F0-CFD8A924022E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>
              <a:latin typeface="Metropolis"/>
            </a:endParaRP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561753F2-BFF8-CED3-B4DB-680D702A944B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>
              <a:latin typeface="Metropolis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DB0E7DD-7CEB-74D5-5837-05C049335F1F}"/>
              </a:ext>
            </a:extLst>
          </p:cNvPr>
          <p:cNvSpPr txBox="1"/>
          <p:nvPr/>
        </p:nvSpPr>
        <p:spPr>
          <a:xfrm>
            <a:off x="548641" y="1596164"/>
            <a:ext cx="59445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latin typeface="Metropolis"/>
              </a:rPr>
              <a:t>Data Access Controls </a:t>
            </a:r>
            <a:r>
              <a:rPr lang="de-DE" b="1" dirty="0" err="1">
                <a:latin typeface="Metropolis"/>
              </a:rPr>
              <a:t>enable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row</a:t>
            </a:r>
            <a:r>
              <a:rPr lang="de-DE" b="1" dirty="0">
                <a:latin typeface="Metropolis"/>
              </a:rPr>
              <a:t>-level </a:t>
            </a:r>
            <a:r>
              <a:rPr lang="de-DE" b="1" dirty="0" err="1">
                <a:latin typeface="Metropolis"/>
              </a:rPr>
              <a:t>security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by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controlling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which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data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users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can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access</a:t>
            </a:r>
            <a:r>
              <a:rPr lang="de-DE" b="1" dirty="0">
                <a:latin typeface="Metropolis"/>
              </a:rPr>
              <a:t>.</a:t>
            </a:r>
            <a:endParaRPr lang="de-DE" dirty="0">
              <a:latin typeface="Metropolis"/>
            </a:endParaRPr>
          </a:p>
          <a:p>
            <a:r>
              <a:rPr lang="de-DE" dirty="0" err="1">
                <a:latin typeface="Metropolis"/>
              </a:rPr>
              <a:t>When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applied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to</a:t>
            </a:r>
            <a:r>
              <a:rPr lang="de-DE" dirty="0">
                <a:latin typeface="Metropolis"/>
              </a:rPr>
              <a:t> a </a:t>
            </a:r>
            <a:r>
              <a:rPr lang="de-DE" dirty="0" err="1">
                <a:latin typeface="Metropolis"/>
              </a:rPr>
              <a:t>data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layer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view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or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business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layer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object</a:t>
            </a:r>
            <a:r>
              <a:rPr lang="de-DE" dirty="0">
                <a:latin typeface="Metropolis"/>
              </a:rPr>
              <a:t>, </a:t>
            </a:r>
            <a:r>
              <a:rPr lang="de-DE" dirty="0" err="1">
                <a:latin typeface="Metropolis"/>
              </a:rPr>
              <a:t>access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is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dynamically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filtered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based</a:t>
            </a:r>
            <a:r>
              <a:rPr lang="de-DE" dirty="0">
                <a:latin typeface="Metropolis"/>
              </a:rPr>
              <a:t> on </a:t>
            </a:r>
            <a:r>
              <a:rPr lang="de-DE" dirty="0" err="1">
                <a:latin typeface="Metropolis"/>
              </a:rPr>
              <a:t>predefined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security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criteria</a:t>
            </a:r>
            <a:r>
              <a:rPr lang="de-DE" dirty="0">
                <a:latin typeface="Metropolis"/>
              </a:rPr>
              <a:t>.</a:t>
            </a:r>
          </a:p>
          <a:p>
            <a:endParaRPr lang="de-DE" dirty="0">
              <a:latin typeface="Metropolis"/>
            </a:endParaRPr>
          </a:p>
          <a:p>
            <a:r>
              <a:rPr lang="de-DE" b="1" dirty="0">
                <a:latin typeface="Metropolis"/>
              </a:rPr>
              <a:t>The </a:t>
            </a:r>
            <a:r>
              <a:rPr lang="de-DE" b="1" dirty="0" err="1">
                <a:latin typeface="Metropolis"/>
              </a:rPr>
              <a:t>foundation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of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this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approach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is</a:t>
            </a:r>
            <a:r>
              <a:rPr lang="de-DE" b="1" dirty="0">
                <a:latin typeface="Metropolis"/>
              </a:rPr>
              <a:t> </a:t>
            </a:r>
            <a:r>
              <a:rPr lang="de-DE" b="1" dirty="0" err="1">
                <a:latin typeface="Metropolis"/>
              </a:rPr>
              <a:t>the</a:t>
            </a:r>
            <a:r>
              <a:rPr lang="de-DE" b="1" dirty="0">
                <a:latin typeface="Metropolis"/>
              </a:rPr>
              <a:t> Permission Table/View</a:t>
            </a:r>
            <a:r>
              <a:rPr lang="de-DE" dirty="0">
                <a:latin typeface="Metropolis"/>
              </a:rPr>
              <a:t> — </a:t>
            </a:r>
            <a:r>
              <a:rPr lang="de-DE" dirty="0" err="1">
                <a:latin typeface="Metropolis"/>
              </a:rPr>
              <a:t>it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stores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the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access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rules</a:t>
            </a:r>
            <a:r>
              <a:rPr lang="de-DE" dirty="0">
                <a:latin typeface="Metropolis"/>
              </a:rPr>
              <a:t> and </a:t>
            </a:r>
            <a:r>
              <a:rPr lang="de-DE" dirty="0" err="1">
                <a:latin typeface="Metropolis"/>
              </a:rPr>
              <a:t>restriction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criteria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that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determine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what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data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each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user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can</a:t>
            </a:r>
            <a:r>
              <a:rPr lang="de-DE" dirty="0">
                <a:latin typeface="Metropolis"/>
              </a:rPr>
              <a:t> </a:t>
            </a:r>
            <a:r>
              <a:rPr lang="de-DE" dirty="0" err="1">
                <a:latin typeface="Metropolis"/>
              </a:rPr>
              <a:t>see</a:t>
            </a:r>
            <a:r>
              <a:rPr lang="de-DE" dirty="0">
                <a:latin typeface="Metropolis"/>
              </a:rPr>
              <a:t>.</a:t>
            </a:r>
          </a:p>
          <a:p>
            <a:endParaRPr lang="de-DE" dirty="0">
              <a:latin typeface="Metropolis"/>
            </a:endParaRPr>
          </a:p>
          <a:p>
            <a:endParaRPr lang="de-DE" b="1" dirty="0">
              <a:solidFill>
                <a:srgbClr val="1E2761"/>
              </a:solidFill>
              <a:latin typeface="Metropolis"/>
              <a:ea typeface="Cambria" pitchFamily="34" charset="-122"/>
            </a:endParaRPr>
          </a:p>
          <a:p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Key Question:</a:t>
            </a:r>
          </a:p>
          <a:p>
            <a:b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</a:b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How do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we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effectively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maintain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and manage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the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records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in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permission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tables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/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views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to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ensure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accurate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and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governed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data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Metropolis"/>
                <a:ea typeface="Cambria" pitchFamily="34" charset="-122"/>
              </a:rPr>
              <a:t>access</a:t>
            </a:r>
            <a:r>
              <a:rPr lang="de-DE" b="1" dirty="0">
                <a:solidFill>
                  <a:srgbClr val="1E2761"/>
                </a:solidFill>
                <a:latin typeface="Metropolis"/>
                <a:ea typeface="Cambria" pitchFamily="34" charset="-122"/>
              </a:rPr>
              <a:t>?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83F921E-0377-BCC6-9DB9-D068524663B6}"/>
              </a:ext>
            </a:extLst>
          </p:cNvPr>
          <p:cNvSpPr/>
          <p:nvPr/>
        </p:nvSpPr>
        <p:spPr>
          <a:xfrm>
            <a:off x="8708994" y="4785065"/>
            <a:ext cx="2279786" cy="763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Metropolis"/>
              </a:rPr>
              <a:t>„</a:t>
            </a:r>
            <a:r>
              <a:rPr lang="de-DE" dirty="0" err="1">
                <a:latin typeface="Metropolis"/>
              </a:rPr>
              <a:t>Permissions</a:t>
            </a:r>
            <a:r>
              <a:rPr lang="de-DE" dirty="0">
                <a:latin typeface="Metropolis"/>
              </a:rPr>
              <a:t>“ </a:t>
            </a:r>
            <a:r>
              <a:rPr lang="de-DE" dirty="0" err="1">
                <a:latin typeface="Metropolis"/>
              </a:rPr>
              <a:t>table</a:t>
            </a:r>
            <a:endParaRPr lang="de-DE" dirty="0">
              <a:latin typeface="Metropolis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1E23A648-F200-CAD5-DEAD-CC327B420FBD}"/>
              </a:ext>
            </a:extLst>
          </p:cNvPr>
          <p:cNvSpPr/>
          <p:nvPr/>
        </p:nvSpPr>
        <p:spPr>
          <a:xfrm>
            <a:off x="8708994" y="3128721"/>
            <a:ext cx="2279787" cy="763480"/>
          </a:xfrm>
          <a:prstGeom prst="roundRect">
            <a:avLst/>
          </a:prstGeom>
          <a:solidFill>
            <a:srgbClr val="8AC2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Metropolis"/>
              </a:rPr>
              <a:t>Data Access Control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0858538-F77C-52A6-4A1C-8D5EB4BE6674}"/>
              </a:ext>
            </a:extLst>
          </p:cNvPr>
          <p:cNvSpPr/>
          <p:nvPr/>
        </p:nvSpPr>
        <p:spPr>
          <a:xfrm>
            <a:off x="8708994" y="1472376"/>
            <a:ext cx="2250934" cy="763480"/>
          </a:xfrm>
          <a:prstGeom prst="roundRect">
            <a:avLst/>
          </a:prstGeom>
          <a:solidFill>
            <a:srgbClr val="2469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Metropolis"/>
              </a:rPr>
              <a:t>„Sales“ View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5525E36-C562-4069-B27C-5EC0FFDBF8A3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V="1">
            <a:off x="9848887" y="3892201"/>
            <a:ext cx="1" cy="892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B586E8D-48EB-693C-8FAE-FE01EEBBAACC}"/>
              </a:ext>
            </a:extLst>
          </p:cNvPr>
          <p:cNvCxnSpPr>
            <a:cxnSpLocks/>
            <a:stCxn id="7" idx="0"/>
            <a:endCxn id="9" idx="2"/>
          </p:cNvCxnSpPr>
          <p:nvPr/>
        </p:nvCxnSpPr>
        <p:spPr>
          <a:xfrm flipH="1" flipV="1">
            <a:off x="9834461" y="2235856"/>
            <a:ext cx="14427" cy="892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2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CAE8C-8F08-621D-9266-29EDDCA4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F15881-9620-0D3C-03C8-081B1CE1D557}"/>
              </a:ext>
            </a:extLst>
          </p:cNvPr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itchFamily="34" charset="0"/>
                <a:ea typeface="Cambria" pitchFamily="34" charset="-122"/>
              </a:rPr>
              <a:t>Strategies</a:t>
            </a: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itchFamily="34" charset="0"/>
                <a:ea typeface="Cambria" pitchFamily="34" charset="-122"/>
              </a:rPr>
              <a:t>to Populate Permission Tables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EEE30C-41F3-BB6A-A044-0E1DB0F835C9}"/>
              </a:ext>
            </a:extLst>
          </p:cNvPr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 to keep row-level authorizations current — trade-offs at a glance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69D884-F022-7CBC-4371-3BF8A858E9BE}"/>
              </a:ext>
            </a:extLst>
          </p:cNvPr>
          <p:cNvSpPr/>
          <p:nvPr/>
        </p:nvSpPr>
        <p:spPr>
          <a:xfrm>
            <a:off x="548640" y="141732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A04DA41-7282-4BF7-47C6-269D7B3353D3}"/>
              </a:ext>
            </a:extLst>
          </p:cNvPr>
          <p:cNvSpPr/>
          <p:nvPr/>
        </p:nvSpPr>
        <p:spPr>
          <a:xfrm>
            <a:off x="777240" y="1673352"/>
            <a:ext cx="502920" cy="502920"/>
          </a:xfrm>
          <a:prstGeom prst="ellipse">
            <a:avLst/>
          </a:prstGeom>
          <a:solidFill>
            <a:srgbClr val="E16E1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/home/claude/deck/icon_upload.png">
            <a:extLst>
              <a:ext uri="{FF2B5EF4-FFF2-40B4-BE49-F238E27FC236}">
                <a16:creationId xmlns:a16="http://schemas.microsoft.com/office/drawing/2014/main" id="{2B4D3EAB-4026-A7CB-7E75-B3F830984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787652"/>
            <a:ext cx="274320" cy="27432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A904A093-93A1-28D9-9416-28FEC405CE56}"/>
              </a:ext>
            </a:extLst>
          </p:cNvPr>
          <p:cNvSpPr/>
          <p:nvPr/>
        </p:nvSpPr>
        <p:spPr>
          <a:xfrm>
            <a:off x="1417320" y="16367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Maintenance</a:t>
            </a:r>
            <a:endParaRPr lang="en-US" sz="15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D98EF9F-D981-7338-1C2F-30EA3C7877BA}"/>
              </a:ext>
            </a:extLst>
          </p:cNvPr>
          <p:cNvSpPr/>
          <p:nvPr/>
        </p:nvSpPr>
        <p:spPr>
          <a:xfrm>
            <a:off x="141732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Builder / CSV Upload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52E8D71-4142-1E8A-3A4C-A3B54507B2DF}"/>
              </a:ext>
            </a:extLst>
          </p:cNvPr>
          <p:cNvSpPr/>
          <p:nvPr/>
        </p:nvSpPr>
        <p:spPr>
          <a:xfrm>
            <a:off x="777240" y="2377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D5D500D-13F6-9E18-74D4-CEA917CA9DF2}"/>
              </a:ext>
            </a:extLst>
          </p:cNvPr>
          <p:cNvSpPr/>
          <p:nvPr/>
        </p:nvSpPr>
        <p:spPr>
          <a:xfrm>
            <a:off x="777240" y="2679192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build required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manual control for one-off or ad-hoc changes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without a live source-system connection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4D01B9B-A41D-89DE-C8FC-822E16D294BA}"/>
              </a:ext>
            </a:extLst>
          </p:cNvPr>
          <p:cNvSpPr/>
          <p:nvPr/>
        </p:nvSpPr>
        <p:spPr>
          <a:xfrm>
            <a:off x="777240" y="41879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F9EC639-B9CF-C590-96BB-907E264564F9}"/>
              </a:ext>
            </a:extLst>
          </p:cNvPr>
          <p:cNvSpPr/>
          <p:nvPr/>
        </p:nvSpPr>
        <p:spPr>
          <a:xfrm>
            <a:off x="777240" y="4489704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Labor-intensive at scale; slow to update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human error and inconsistent formatting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link to source-of-truth ownership data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96200E9-AAD1-C7E7-444E-C163B8ADF03C}"/>
              </a:ext>
            </a:extLst>
          </p:cNvPr>
          <p:cNvSpPr/>
          <p:nvPr/>
        </p:nvSpPr>
        <p:spPr>
          <a:xfrm>
            <a:off x="4297680" y="141732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FBFD376-8F37-DBF6-3806-C911A2C4F369}"/>
              </a:ext>
            </a:extLst>
          </p:cNvPr>
          <p:cNvSpPr/>
          <p:nvPr/>
        </p:nvSpPr>
        <p:spPr>
          <a:xfrm>
            <a:off x="4526280" y="1673352"/>
            <a:ext cx="502920" cy="502920"/>
          </a:xfrm>
          <a:prstGeom prst="ellipse">
            <a:avLst/>
          </a:prstGeom>
          <a:solidFill>
            <a:srgbClr val="E16E1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1" descr="/home/claude/deck/icon_sync.png">
            <a:extLst>
              <a:ext uri="{FF2B5EF4-FFF2-40B4-BE49-F238E27FC236}">
                <a16:creationId xmlns:a16="http://schemas.microsoft.com/office/drawing/2014/main" id="{9FC98002-67CC-2859-01A6-2E0607783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1787652"/>
            <a:ext cx="274320" cy="27432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15A2A596-CD0F-F5C7-C365-EE6790FD7D2A}"/>
              </a:ext>
            </a:extLst>
          </p:cNvPr>
          <p:cNvSpPr/>
          <p:nvPr/>
        </p:nvSpPr>
        <p:spPr>
          <a:xfrm>
            <a:off x="5166360" y="16367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Synchronization</a:t>
            </a:r>
            <a:endParaRPr lang="en-US" sz="15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77B3BDF-E69D-CB52-64F3-F5039DB34384}"/>
              </a:ext>
            </a:extLst>
          </p:cNvPr>
          <p:cNvSpPr/>
          <p:nvPr/>
        </p:nvSpPr>
        <p:spPr>
          <a:xfrm>
            <a:off x="516636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or SAP BW Role Sync</a:t>
            </a:r>
            <a:endParaRPr lang="en-US" sz="105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0B3D958-6AA2-A926-BF80-AB4EC4CFC0F4}"/>
              </a:ext>
            </a:extLst>
          </p:cNvPr>
          <p:cNvSpPr/>
          <p:nvPr/>
        </p:nvSpPr>
        <p:spPr>
          <a:xfrm>
            <a:off x="4526280" y="2377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6D545CF-0FA0-C19A-2616-EBD8510966AA}"/>
              </a:ext>
            </a:extLst>
          </p:cNvPr>
          <p:cNvSpPr/>
          <p:nvPr/>
        </p:nvSpPr>
        <p:spPr>
          <a:xfrm>
            <a:off x="4526280" y="2679192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existing S/4 or BW role investments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governance model for SAP security teams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where org already standardized on PFCG/BW roles</a:t>
            </a:r>
            <a:endParaRPr lang="en-US" sz="10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C889E47-7DF8-0F5B-A8CC-07F5CDFB2030}"/>
              </a:ext>
            </a:extLst>
          </p:cNvPr>
          <p:cNvSpPr/>
          <p:nvPr/>
        </p:nvSpPr>
        <p:spPr>
          <a:xfrm>
            <a:off x="4526280" y="41879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B5E0DDF-A06B-E56C-E888-35F330408758}"/>
              </a:ext>
            </a:extLst>
          </p:cNvPr>
          <p:cNvSpPr/>
          <p:nvPr/>
        </p:nvSpPr>
        <p:spPr>
          <a:xfrm>
            <a:off x="4526280" y="4489704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 granularity — not built for row-level filters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to keep aligned; drift risk over time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mapping layer needed to translate roles into restrictions</a:t>
            </a:r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for cloud-only or Non-SAP dimensions</a:t>
            </a:r>
            <a:endParaRPr lang="en-US" sz="105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DB3A88C3-43B2-5E3C-BD51-79747E8A6DC0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AA0C1BBB-A137-3C75-CF55-4DD461A809DD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2E32D1BD-7309-A2D9-C4F8-7C3DB9AE5124}"/>
              </a:ext>
            </a:extLst>
          </p:cNvPr>
          <p:cNvSpPr/>
          <p:nvPr/>
        </p:nvSpPr>
        <p:spPr>
          <a:xfrm>
            <a:off x="8001000" y="13487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8B714371-C065-D0EB-314A-AF1D776905B5}"/>
              </a:ext>
            </a:extLst>
          </p:cNvPr>
          <p:cNvSpPr/>
          <p:nvPr/>
        </p:nvSpPr>
        <p:spPr>
          <a:xfrm>
            <a:off x="8275320" y="1673352"/>
            <a:ext cx="502920" cy="502920"/>
          </a:xfrm>
          <a:prstGeom prst="ellipse">
            <a:avLst/>
          </a:prstGeom>
          <a:solidFill>
            <a:srgbClr val="E16E1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7FDFC183-09C9-03DF-BDC5-1293F43035AC}"/>
              </a:ext>
            </a:extLst>
          </p:cNvPr>
          <p:cNvSpPr/>
          <p:nvPr/>
        </p:nvSpPr>
        <p:spPr>
          <a:xfrm>
            <a:off x="8915400" y="16367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name split </a:t>
            </a:r>
            <a:endParaRPr lang="en-US" sz="155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C452C33B-038A-F4E1-12C5-2DDD2FD1432D}"/>
              </a:ext>
            </a:extLst>
          </p:cNvPr>
          <p:cNvSpPr/>
          <p:nvPr/>
        </p:nvSpPr>
        <p:spPr>
          <a:xfrm>
            <a:off x="891540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Haribo - Way</a:t>
            </a:r>
            <a:endParaRPr lang="en-US" sz="105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B3CFF868-B4EE-953B-AA32-E270E8102759}"/>
              </a:ext>
            </a:extLst>
          </p:cNvPr>
          <p:cNvSpPr/>
          <p:nvPr/>
        </p:nvSpPr>
        <p:spPr>
          <a:xfrm>
            <a:off x="8275320" y="2377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5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B92F14C0-D3AE-981A-DDB1-34F373611962}"/>
              </a:ext>
            </a:extLst>
          </p:cNvPr>
          <p:cNvSpPr/>
          <p:nvPr/>
        </p:nvSpPr>
        <p:spPr>
          <a:xfrm>
            <a:off x="8275320" y="2679192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mapping table needed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the approvement process in GRC</a:t>
            </a:r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/>
              <a:t>Clear visibility about data access restriction </a:t>
            </a:r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endParaRPr lang="en-US" sz="1050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EC10412F-42FF-3538-B587-C7E6C1576D32}"/>
              </a:ext>
            </a:extLst>
          </p:cNvPr>
          <p:cNvSpPr/>
          <p:nvPr/>
        </p:nvSpPr>
        <p:spPr>
          <a:xfrm>
            <a:off x="8275320" y="41879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5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AF99F736-3A08-7B1F-F1E6-B789CE63E915}"/>
              </a:ext>
            </a:extLst>
          </p:cNvPr>
          <p:cNvSpPr/>
          <p:nvPr/>
        </p:nvSpPr>
        <p:spPr>
          <a:xfrm>
            <a:off x="8275320" y="4489704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 granularity — not built for row-level filters (e.g. cost center authorization)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dependency on perfect naming conventions</a:t>
            </a:r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procedure for a complex rules (e.g. DEHO)</a:t>
            </a:r>
          </a:p>
        </p:txBody>
      </p:sp>
      <p:pic>
        <p:nvPicPr>
          <p:cNvPr id="58" name="Grafik 57">
            <a:extLst>
              <a:ext uri="{FF2B5EF4-FFF2-40B4-BE49-F238E27FC236}">
                <a16:creationId xmlns:a16="http://schemas.microsoft.com/office/drawing/2014/main" id="{AF23A6A5-E24F-D0BB-03EF-9D07830A5A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155940" y="1728216"/>
            <a:ext cx="65024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059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95B49-E022-C1C3-D7C1-0452F7C91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FB7F6F-C86C-2AF9-D545-82BE39D35670}"/>
              </a:ext>
            </a:extLst>
          </p:cNvPr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3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Authorization</a:t>
            </a:r>
            <a:r>
              <a:rPr lang="de-DE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 </a:t>
            </a:r>
            <a:r>
              <a:rPr lang="de-DE" sz="3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Governance</a:t>
            </a:r>
            <a:r>
              <a:rPr lang="de-DE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 Center</a:t>
            </a:r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  <a:latin typeface="Metropoli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FF2E07-65CF-6A75-4559-FC219583A918}"/>
              </a:ext>
            </a:extLst>
          </p:cNvPr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B6377"/>
                </a:solidFill>
                <a:latin typeface="Metropolis"/>
                <a:ea typeface="Calibri" pitchFamily="34" charset="-122"/>
                <a:cs typeface="Calibri" pitchFamily="34" charset="-120"/>
              </a:rPr>
              <a:t>The true paths to handle row-level authorizations</a:t>
            </a:r>
            <a:endParaRPr lang="en-US" sz="1600" dirty="0">
              <a:latin typeface="Metropoli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319FE1-11DD-E018-CAA9-9B344A1B8BC2}"/>
              </a:ext>
            </a:extLst>
          </p:cNvPr>
          <p:cNvSpPr/>
          <p:nvPr/>
        </p:nvSpPr>
        <p:spPr>
          <a:xfrm>
            <a:off x="5486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C4B047B-183B-0329-5BF5-E41129BBA91F}"/>
              </a:ext>
            </a:extLst>
          </p:cNvPr>
          <p:cNvSpPr/>
          <p:nvPr/>
        </p:nvSpPr>
        <p:spPr>
          <a:xfrm>
            <a:off x="1408176" y="2011680"/>
            <a:ext cx="768096" cy="768096"/>
          </a:xfrm>
          <a:prstGeom prst="ellipse">
            <a:avLst/>
          </a:prstGeom>
          <a:solidFill>
            <a:srgbClr val="8AC2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E6C9A24-6B7B-1354-93E4-660D64F3937C}"/>
              </a:ext>
            </a:extLst>
          </p:cNvPr>
          <p:cNvSpPr/>
          <p:nvPr/>
        </p:nvSpPr>
        <p:spPr>
          <a:xfrm>
            <a:off x="7132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de-DE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Decentralized</a:t>
            </a:r>
            <a:r>
              <a:rPr lang="de-DE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</a:p>
          <a:p>
            <a:pPr algn="ctr"/>
            <a:r>
              <a:rPr lang="de-DE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Self-Service</a:t>
            </a:r>
            <a:endParaRPr lang="en-US" sz="1500" b="1" dirty="0">
              <a:solidFill>
                <a:srgbClr val="1E2761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8E1034E-4B8D-6ED1-EED5-E24001DF8861}"/>
              </a:ext>
            </a:extLst>
          </p:cNvPr>
          <p:cNvSpPr/>
          <p:nvPr/>
        </p:nvSpPr>
        <p:spPr>
          <a:xfrm>
            <a:off x="7498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IT.</a:t>
            </a:r>
          </a:p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F007888-6D92-CA6D-42FE-76AC347BA3C9}"/>
              </a:ext>
            </a:extLst>
          </p:cNvPr>
          <p:cNvSpPr/>
          <p:nvPr/>
        </p:nvSpPr>
        <p:spPr>
          <a:xfrm>
            <a:off x="32918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3DBDE20-6992-6881-8DA6-557E0FF2BB50}"/>
              </a:ext>
            </a:extLst>
          </p:cNvPr>
          <p:cNvSpPr/>
          <p:nvPr/>
        </p:nvSpPr>
        <p:spPr>
          <a:xfrm>
            <a:off x="4151376" y="2011680"/>
            <a:ext cx="768096" cy="768096"/>
          </a:xfrm>
          <a:prstGeom prst="ellipse">
            <a:avLst/>
          </a:prstGeom>
          <a:solidFill>
            <a:srgbClr val="8AC2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00EFC80-DC05-9220-9E3F-A13F04AB5072}"/>
              </a:ext>
            </a:extLst>
          </p:cNvPr>
          <p:cNvSpPr/>
          <p:nvPr/>
        </p:nvSpPr>
        <p:spPr>
          <a:xfrm>
            <a:off x="34564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de-DE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Access </a:t>
            </a:r>
          </a:p>
          <a:p>
            <a:pPr algn="ctr"/>
            <a:r>
              <a:rPr lang="de-DE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Domains</a:t>
            </a:r>
            <a:endParaRPr lang="en-US" sz="1500" b="1" dirty="0">
              <a:solidFill>
                <a:srgbClr val="1E2761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88634B0-0D75-9D93-3A97-6E6405E71B8B}"/>
              </a:ext>
            </a:extLst>
          </p:cNvPr>
          <p:cNvSpPr/>
          <p:nvPr/>
        </p:nvSpPr>
        <p:spPr>
          <a:xfrm>
            <a:off x="34930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different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segregates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namespaced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50" dirty="0">
              <a:solidFill>
                <a:srgbClr val="5B637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527E3855-62AB-A45B-D454-7B3D57C57428}"/>
              </a:ext>
            </a:extLst>
          </p:cNvPr>
          <p:cNvSpPr/>
          <p:nvPr/>
        </p:nvSpPr>
        <p:spPr>
          <a:xfrm>
            <a:off x="60350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0511D5E-277F-A4E2-31DE-46BD0C53AD44}"/>
              </a:ext>
            </a:extLst>
          </p:cNvPr>
          <p:cNvSpPr/>
          <p:nvPr/>
        </p:nvSpPr>
        <p:spPr>
          <a:xfrm>
            <a:off x="6894576" y="2011680"/>
            <a:ext cx="768096" cy="768096"/>
          </a:xfrm>
          <a:prstGeom prst="ellipse">
            <a:avLst/>
          </a:prstGeom>
          <a:solidFill>
            <a:srgbClr val="8AC2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31B1735-B9DC-9675-7687-56854557F439}"/>
              </a:ext>
            </a:extLst>
          </p:cNvPr>
          <p:cNvSpPr/>
          <p:nvPr/>
        </p:nvSpPr>
        <p:spPr>
          <a:xfrm>
            <a:off x="61996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de-DE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Automation</a:t>
            </a:r>
            <a:endParaRPr lang="en-US" sz="1500" b="1" dirty="0">
              <a:solidFill>
                <a:srgbClr val="1E2761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E377D673-8D34-9FC6-A580-445D549C2FBA}"/>
              </a:ext>
            </a:extLst>
          </p:cNvPr>
          <p:cNvSpPr/>
          <p:nvPr/>
        </p:nvSpPr>
        <p:spPr>
          <a:xfrm>
            <a:off x="62362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BP KAM).</a:t>
            </a:r>
            <a:endParaRPr lang="en-US" sz="115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ED9EF70-9A3E-9440-121F-C8F8AAC69C1E}"/>
              </a:ext>
            </a:extLst>
          </p:cNvPr>
          <p:cNvSpPr/>
          <p:nvPr/>
        </p:nvSpPr>
        <p:spPr>
          <a:xfrm>
            <a:off x="87782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5E91C875-18C7-DD2D-BA60-D23B71D32A56}"/>
              </a:ext>
            </a:extLst>
          </p:cNvPr>
          <p:cNvSpPr/>
          <p:nvPr/>
        </p:nvSpPr>
        <p:spPr>
          <a:xfrm>
            <a:off x="9637776" y="2011680"/>
            <a:ext cx="768096" cy="768096"/>
          </a:xfrm>
          <a:prstGeom prst="ellipse">
            <a:avLst/>
          </a:prstGeom>
          <a:solidFill>
            <a:srgbClr val="8AC2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B660B5C5-2A67-EA5E-AE0E-30D919E13DFA}"/>
              </a:ext>
            </a:extLst>
          </p:cNvPr>
          <p:cNvSpPr/>
          <p:nvPr/>
        </p:nvSpPr>
        <p:spPr>
          <a:xfrm>
            <a:off x="89428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de-DE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Audit</a:t>
            </a:r>
            <a:endParaRPr lang="en-US" sz="1500" b="1" dirty="0">
              <a:solidFill>
                <a:srgbClr val="1E2761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06500730-C965-0A55-20E7-F11D08409E9F}"/>
              </a:ext>
            </a:extLst>
          </p:cNvPr>
          <p:cNvSpPr/>
          <p:nvPr/>
        </p:nvSpPr>
        <p:spPr>
          <a:xfrm>
            <a:off x="89794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Tracking Every time a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created,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an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logs the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1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r>
              <a:rPr lang="de-DE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15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1CF6999A-AFD2-452E-20FE-A3CD1DA59E16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E6324EF-96D5-B357-0DD9-EB2CFB7B12A5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27" name="Grafik 26" descr="Roboterhand mit einfarbiger Füllung">
            <a:extLst>
              <a:ext uri="{FF2B5EF4-FFF2-40B4-BE49-F238E27FC236}">
                <a16:creationId xmlns:a16="http://schemas.microsoft.com/office/drawing/2014/main" id="{20C2422B-F812-3875-E547-BEBCB3A91E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4624" y="2155500"/>
            <a:ext cx="468000" cy="468000"/>
          </a:xfrm>
          <a:prstGeom prst="rect">
            <a:avLst/>
          </a:prstGeom>
        </p:spPr>
      </p:pic>
      <p:pic>
        <p:nvPicPr>
          <p:cNvPr id="29" name="Grafik 28" descr="Lupe mit einfarbiger Füllung">
            <a:extLst>
              <a:ext uri="{FF2B5EF4-FFF2-40B4-BE49-F238E27FC236}">
                <a16:creationId xmlns:a16="http://schemas.microsoft.com/office/drawing/2014/main" id="{0396B0C4-B6CD-151A-01FF-28B8DF846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7824" y="2155500"/>
            <a:ext cx="468000" cy="468000"/>
          </a:xfrm>
          <a:prstGeom prst="rect">
            <a:avLst/>
          </a:prstGeom>
        </p:spPr>
      </p:pic>
      <p:pic>
        <p:nvPicPr>
          <p:cNvPr id="31" name="Grafik 30" descr="Herz Schloss mit einfarbiger Füllung">
            <a:extLst>
              <a:ext uri="{FF2B5EF4-FFF2-40B4-BE49-F238E27FC236}">
                <a16:creationId xmlns:a16="http://schemas.microsoft.com/office/drawing/2014/main" id="{47884D80-6492-057F-5544-47B5EAEA47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1424" y="2176272"/>
            <a:ext cx="468000" cy="468000"/>
          </a:xfrm>
          <a:prstGeom prst="rect">
            <a:avLst/>
          </a:prstGeom>
        </p:spPr>
      </p:pic>
      <p:pic>
        <p:nvPicPr>
          <p:cNvPr id="35" name="Grafik 34" descr="Telearbeit mit einfarbiger Füllung">
            <a:extLst>
              <a:ext uri="{FF2B5EF4-FFF2-40B4-BE49-F238E27FC236}">
                <a16:creationId xmlns:a16="http://schemas.microsoft.com/office/drawing/2014/main" id="{F5125695-F22D-B2C6-05D1-A10B54673D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52128" y="2176206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6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Application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tropolis"/>
                <a:ea typeface="Cambria" pitchFamily="34" charset="-122"/>
              </a:rPr>
              <a:t>Modules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connected modules cover the full lifecycle, from modeling to audit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943100" y="1947672"/>
            <a:ext cx="731520" cy="731520"/>
          </a:xfrm>
          <a:prstGeom prst="ellipse">
            <a:avLst/>
          </a:prstGeom>
          <a:solidFill>
            <a:srgbClr val="8AC2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731520" y="27889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Center view of risk flags, active roles, users, and org coverage at a glance.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1688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756148" y="1947672"/>
            <a:ext cx="731520" cy="731520"/>
          </a:xfrm>
          <a:prstGeom prst="ellipse">
            <a:avLst/>
          </a:prstGeom>
          <a:solidFill>
            <a:srgbClr val="8AC2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4544568" y="27889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Manager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3200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Global → Region → Plant hierarchy and map attributes to each node.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74736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9569196" y="1947672"/>
            <a:ext cx="731520" cy="731520"/>
          </a:xfrm>
          <a:prstGeom prst="ellipse">
            <a:avLst/>
          </a:prstGeom>
          <a:solidFill>
            <a:srgbClr val="8AC2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2"/>
          <p:cNvSpPr/>
          <p:nvPr/>
        </p:nvSpPr>
        <p:spPr>
          <a:xfrm>
            <a:off x="8357616" y="27889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Wizard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03336" y="3200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four-step flow to define, derive and deploy role restrictions.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1943100" y="4416552"/>
            <a:ext cx="731520" cy="731520"/>
          </a:xfrm>
          <a:prstGeom prst="ellipse">
            <a:avLst/>
          </a:prstGeom>
          <a:solidFill>
            <a:srgbClr val="8AC2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6"/>
          <p:cNvSpPr/>
          <p:nvPr/>
        </p:nvSpPr>
        <p:spPr>
          <a:xfrm>
            <a:off x="731520" y="5257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Assignments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669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derived roles to users with inheritance enforced automatically.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1688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19"/>
          <p:cNvSpPr/>
          <p:nvPr/>
        </p:nvSpPr>
        <p:spPr>
          <a:xfrm>
            <a:off x="5756148" y="4416552"/>
            <a:ext cx="731520" cy="731520"/>
          </a:xfrm>
          <a:prstGeom prst="ellipse">
            <a:avLst/>
          </a:prstGeom>
          <a:solidFill>
            <a:srgbClr val="8AC2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0"/>
          <p:cNvSpPr/>
          <p:nvPr/>
        </p:nvSpPr>
        <p:spPr>
          <a:xfrm>
            <a:off x="4544568" y="5257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0288" y="5669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of every create, update, and delete, with full before/after diffs.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74736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3"/>
          <p:cNvSpPr/>
          <p:nvPr/>
        </p:nvSpPr>
        <p:spPr>
          <a:xfrm>
            <a:off x="9569196" y="4416552"/>
            <a:ext cx="731520" cy="731520"/>
          </a:xfrm>
          <a:prstGeom prst="ellipse">
            <a:avLst/>
          </a:prstGeom>
          <a:solidFill>
            <a:srgbClr val="8AC2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4"/>
          <p:cNvSpPr/>
          <p:nvPr/>
        </p:nvSpPr>
        <p:spPr>
          <a:xfrm>
            <a:off x="8357616" y="5257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Profile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03336" y="5669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Evautate</a:t>
            </a: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user’s authorization to access the data for every access domain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7" name="Grafik 36" descr="Zauberstab (automatisch) mit einfarbiger Füllung">
            <a:extLst>
              <a:ext uri="{FF2B5EF4-FFF2-40B4-BE49-F238E27FC236}">
                <a16:creationId xmlns:a16="http://schemas.microsoft.com/office/drawing/2014/main" id="{CAF884A3-CF7A-26A9-1E61-C4CA5D6580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5406" y="2079432"/>
            <a:ext cx="468000" cy="468000"/>
          </a:xfrm>
          <a:prstGeom prst="rect">
            <a:avLst/>
          </a:prstGeom>
        </p:spPr>
      </p:pic>
      <p:pic>
        <p:nvPicPr>
          <p:cNvPr id="39" name="Grafik 38" descr="Zahnrad mit einfarbiger Füllung">
            <a:extLst>
              <a:ext uri="{FF2B5EF4-FFF2-40B4-BE49-F238E27FC236}">
                <a16:creationId xmlns:a16="http://schemas.microsoft.com/office/drawing/2014/main" id="{8DBEF1F8-9D6D-53BA-EB19-7C0721CF2A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0956" y="4548312"/>
            <a:ext cx="468000" cy="468000"/>
          </a:xfrm>
          <a:prstGeom prst="rect">
            <a:avLst/>
          </a:prstGeom>
        </p:spPr>
      </p:pic>
      <p:pic>
        <p:nvPicPr>
          <p:cNvPr id="41" name="Grafik 40" descr="Lupe mit einfarbiger Füllung">
            <a:extLst>
              <a:ext uri="{FF2B5EF4-FFF2-40B4-BE49-F238E27FC236}">
                <a16:creationId xmlns:a16="http://schemas.microsoft.com/office/drawing/2014/main" id="{CA5A7B60-2202-4BC2-5D79-DAC27C6FF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7908" y="4570344"/>
            <a:ext cx="468000" cy="468000"/>
          </a:xfrm>
          <a:prstGeom prst="rect">
            <a:avLst/>
          </a:prstGeom>
        </p:spPr>
      </p:pic>
      <p:pic>
        <p:nvPicPr>
          <p:cNvPr id="43" name="Grafik 42" descr="Messgerät mit einfarbiger Füllung">
            <a:extLst>
              <a:ext uri="{FF2B5EF4-FFF2-40B4-BE49-F238E27FC236}">
                <a16:creationId xmlns:a16="http://schemas.microsoft.com/office/drawing/2014/main" id="{C9E9B37F-A394-5BF1-321D-F8B681E32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8482" y="2051172"/>
            <a:ext cx="468000" cy="468000"/>
          </a:xfrm>
          <a:prstGeom prst="rect">
            <a:avLst/>
          </a:prstGeom>
        </p:spPr>
      </p:pic>
      <p:pic>
        <p:nvPicPr>
          <p:cNvPr id="45" name="Grafik 44" descr="Besprechung mit einfarbiger Füllung">
            <a:extLst>
              <a:ext uri="{FF2B5EF4-FFF2-40B4-BE49-F238E27FC236}">
                <a16:creationId xmlns:a16="http://schemas.microsoft.com/office/drawing/2014/main" id="{3E65F1CC-C3B7-0DFC-8A1E-B0A24536EB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8482" y="4548312"/>
            <a:ext cx="468000" cy="468000"/>
          </a:xfrm>
          <a:prstGeom prst="rect">
            <a:avLst/>
          </a:prstGeom>
        </p:spPr>
      </p:pic>
      <p:pic>
        <p:nvPicPr>
          <p:cNvPr id="47" name="Grafik 46" descr="Netzplandiagramm mit einfarbiger Füllung">
            <a:extLst>
              <a:ext uri="{FF2B5EF4-FFF2-40B4-BE49-F238E27FC236}">
                <a16:creationId xmlns:a16="http://schemas.microsoft.com/office/drawing/2014/main" id="{958C8E78-7117-8ECA-92F1-C39556238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5887908" y="2084445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454119-ABAC-1E0F-2A97-451B940A1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52" y="2751645"/>
            <a:ext cx="11501247" cy="538734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Metropolis"/>
              </a:rPr>
              <a:t>Demo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212C39-113D-A154-B6BF-256DA5E5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Authorization Governance Center</a:t>
            </a:r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1BB42C-9F50-5ECA-D3E2-4D7A07C9F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2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itchFamily="34" charset="0"/>
                <a:ea typeface="Cambria" pitchFamily="34" charset="-122"/>
              </a:rPr>
              <a:t>The Business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database-level row security doesn't scale with the enterprise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08176" y="2011680"/>
            <a:ext cx="768096" cy="768096"/>
          </a:xfrm>
          <a:prstGeom prst="ellipse">
            <a:avLst/>
          </a:prstGeom>
          <a:solidFill>
            <a:srgbClr val="E16E1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/home/claude/deck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280" y="21762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&amp; Error-Prone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row-level permissions directly in the database is manual, hard to repeat, and easy to get wrong.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4151376" y="2011680"/>
            <a:ext cx="768096" cy="768096"/>
          </a:xfrm>
          <a:prstGeom prst="ellipse">
            <a:avLst/>
          </a:prstGeom>
          <a:solidFill>
            <a:srgbClr val="E16E1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/home/claude/deck/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992" y="217627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 to Audit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930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 trail, proving who changed what — and why — becomes a compliance risk.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6894576" y="2011680"/>
            <a:ext cx="768096" cy="768096"/>
          </a:xfrm>
          <a:prstGeom prst="ellipse">
            <a:avLst/>
          </a:prstGeom>
          <a:solidFill>
            <a:srgbClr val="E16E1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/home/claude/deck/icon_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6924" y="217627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96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IT Bottleneck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362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plant, region, or customer segment needs a new role, queued behind a central security team.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7782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9637776" y="2011680"/>
            <a:ext cx="768096" cy="768096"/>
          </a:xfrm>
          <a:prstGeom prst="ellipse">
            <a:avLst/>
          </a:prstGeom>
          <a:solidFill>
            <a:srgbClr val="E16E1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/home/claude/deck/icon_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68" y="217627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428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Sync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794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SAP HANA and Datasphere authorizations aligned with source systems is a constant, brittle chore.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74451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mtDesignPP">
  <a:themeElements>
    <a:clrScheme name="Benutzerdefiniert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mtDesignPP" id="{77736D28-3D1D-43EB-97D9-34ADAF178B94}" vid="{B362068C-EFD6-4B14-8C9B-BA327C945D6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027abfa-dc92-4337-bbf9-5357b5beb06e">
      <UserInfo>
        <DisplayName>Armin Rabet</DisplayName>
        <AccountId>13</AccountId>
        <AccountType/>
      </UserInfo>
    </SharedWithUsers>
    <lcf76f155ced4ddcb4097134ff3c332f xmlns="7cc591fe-e486-49ad-9e7a-06d6e2954b0c">
      <Terms xmlns="http://schemas.microsoft.com/office/infopath/2007/PartnerControls"/>
    </lcf76f155ced4ddcb4097134ff3c332f>
    <TaxCatchAll xmlns="5027abfa-dc92-4337-bbf9-5357b5beb06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EB0AEDCA1A3F74FBC3058E7E0EAD70A" ma:contentTypeVersion="16" ma:contentTypeDescription="Ein neues Dokument erstellen." ma:contentTypeScope="" ma:versionID="1219cea9cc15c8b741ce13d01fef48df">
  <xsd:schema xmlns:xsd="http://www.w3.org/2001/XMLSchema" xmlns:xs="http://www.w3.org/2001/XMLSchema" xmlns:p="http://schemas.microsoft.com/office/2006/metadata/properties" xmlns:ns2="7cc591fe-e486-49ad-9e7a-06d6e2954b0c" xmlns:ns3="5027abfa-dc92-4337-bbf9-5357b5beb06e" targetNamespace="http://schemas.microsoft.com/office/2006/metadata/properties" ma:root="true" ma:fieldsID="98169a37f94d222fcedb3919e64374d7" ns2:_="" ns3:_="">
    <xsd:import namespace="7cc591fe-e486-49ad-9e7a-06d6e2954b0c"/>
    <xsd:import namespace="5027abfa-dc92-4337-bbf9-5357b5beb0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c591fe-e486-49ad-9e7a-06d6e2954b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3a4d7b46-b7eb-41f5-be41-8b295aff73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27abfa-dc92-4337-bbf9-5357b5beb06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c3e6d13a-c102-48d6-ac35-6876ec944e68}" ma:internalName="TaxCatchAll" ma:showField="CatchAllData" ma:web="5027abfa-dc92-4337-bbf9-5357b5beb0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23016C-4911-45AA-BE7D-9215D90AA201}">
  <ds:schemaRefs>
    <ds:schemaRef ds:uri="http://www.w3.org/XML/1998/namespace"/>
    <ds:schemaRef ds:uri="http://purl.org/dc/dcmitype/"/>
    <ds:schemaRef ds:uri="http://schemas.microsoft.com/office/2006/documentManagement/types"/>
    <ds:schemaRef ds:uri="7cc591fe-e486-49ad-9e7a-06d6e2954b0c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5027abfa-dc92-4337-bbf9-5357b5beb06e"/>
  </ds:schemaRefs>
</ds:datastoreItem>
</file>

<file path=customXml/itemProps2.xml><?xml version="1.0" encoding="utf-8"?>
<ds:datastoreItem xmlns:ds="http://schemas.openxmlformats.org/officeDocument/2006/customXml" ds:itemID="{7C697D9E-2AEC-4FE4-82BD-759F1F7640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c591fe-e486-49ad-9e7a-06d6e2954b0c"/>
    <ds:schemaRef ds:uri="5027abfa-dc92-4337-bbf9-5357b5beb0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4205CB-FA3F-4417-90D9-0D22CC2C94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cimtDesignPP</Template>
  <TotalTime>0</TotalTime>
  <Words>763</Words>
  <Application>Microsoft Office PowerPoint</Application>
  <PresentationFormat>Breitbild</PresentationFormat>
  <Paragraphs>122</Paragraphs>
  <Slides>9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Calibri</vt:lpstr>
      <vt:lpstr>Cambria</vt:lpstr>
      <vt:lpstr>Metropolis</vt:lpstr>
      <vt:lpstr>Tw Cen MT</vt:lpstr>
      <vt:lpstr>Tw Cen MT Condensed</vt:lpstr>
      <vt:lpstr>Wingdings 3</vt:lpstr>
      <vt:lpstr>cimtDesignPP</vt:lpstr>
      <vt:lpstr>SAP BDC AUTHORIZATION A guided platform for role-based Data access </vt:lpstr>
      <vt:lpstr>Agenda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Demo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Armin Rabet</dc:creator>
  <cp:lastModifiedBy>Andre Eisele</cp:lastModifiedBy>
  <cp:revision>15</cp:revision>
  <cp:lastPrinted>2019-11-28T07:40:40Z</cp:lastPrinted>
  <dcterms:created xsi:type="dcterms:W3CDTF">2019-08-22T09:36:34Z</dcterms:created>
  <dcterms:modified xsi:type="dcterms:W3CDTF">2026-07-28T08:58:49Z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0x0101008EB0AEDCA1A3F74FBC3058E7E0EAD70A</vt:lpwstr>
  </property>
  <property fmtid="{D5CDD505-2E9C-101B-9397-08002B2CF9AE}" pid="3" name="MediaServiceImageTags">
    <vt:lpwstr/>
  </property>
</Properties>
</file>