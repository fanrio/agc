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omments/comment2.xml" ContentType="application/vnd.openxmlformats-officedocument.presentationml.comments+xml"/>
  <Override PartName="/ppt/notesSlides/notesSlide10.xml" ContentType="application/vnd.openxmlformats-officedocument.presentationml.notesSlide+xml"/>
  <Override PartName="/ppt/comments/comment3.xml" ContentType="application/vnd.openxmlformats-officedocument.presentationml.comment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61" r:id="rId4"/>
  </p:sldMasterIdLst>
  <p:notesMasterIdLst>
    <p:notesMasterId r:id="rId16"/>
  </p:notesMasterIdLst>
  <p:handoutMasterIdLst>
    <p:handoutMasterId r:id="rId17"/>
  </p:handoutMasterIdLst>
  <p:sldIdLst>
    <p:sldId id="256" r:id="rId5"/>
    <p:sldId id="1469" r:id="rId6"/>
    <p:sldId id="1586" r:id="rId7"/>
    <p:sldId id="1587" r:id="rId8"/>
    <p:sldId id="1585" r:id="rId9"/>
    <p:sldId id="1584" r:id="rId10"/>
    <p:sldId id="1583" r:id="rId11"/>
    <p:sldId id="1588" r:id="rId12"/>
    <p:sldId id="270" r:id="rId13"/>
    <p:sldId id="1589" r:id="rId14"/>
    <p:sldId id="1575" r:id="rId15"/>
  </p:sldIdLst>
  <p:sldSz cx="12192000" cy="6858000"/>
  <p:notesSz cx="9926638" cy="1435576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4F1A8B21-0FFC-48B7-B76F-00FD0173085F}">
          <p14:sldIdLst>
            <p14:sldId id="256"/>
            <p14:sldId id="1469"/>
            <p14:sldId id="1586"/>
            <p14:sldId id="1587"/>
            <p14:sldId id="1585"/>
            <p14:sldId id="1584"/>
            <p14:sldId id="1583"/>
            <p14:sldId id="1588"/>
            <p14:sldId id="270"/>
            <p14:sldId id="1589"/>
            <p14:sldId id="157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Harald Ruso" initials="HR" lastIdx="90" clrIdx="0">
    <p:extLst>
      <p:ext uri="{19B8F6BF-5375-455C-9EA6-DF929625EA0E}">
        <p15:presenceInfo xmlns:p15="http://schemas.microsoft.com/office/powerpoint/2012/main" userId="S::hruso@AD.CIMT.DE::eadf3fa7-35f5-474e-8748-75627ab45f57" providerId="AD"/>
      </p:ext>
    </p:extLst>
  </p:cmAuthor>
  <p:cmAuthor id="2" name="Natalie Ladwein" initials="NL" lastIdx="24" clrIdx="1">
    <p:extLst>
      <p:ext uri="{19B8F6BF-5375-455C-9EA6-DF929625EA0E}">
        <p15:presenceInfo xmlns:p15="http://schemas.microsoft.com/office/powerpoint/2012/main" userId="S::NLadwein@AD.CIMT.DE::f3eb70d4-56af-4fc5-b084-69e7ffcb5b55" providerId="AD"/>
      </p:ext>
    </p:extLst>
  </p:cmAuthor>
  <p:cmAuthor id="3" name="Dr. Thorsten Kuhlmann" initials="DTK" lastIdx="14" clrIdx="2">
    <p:extLst>
      <p:ext uri="{19B8F6BF-5375-455C-9EA6-DF929625EA0E}">
        <p15:presenceInfo xmlns:p15="http://schemas.microsoft.com/office/powerpoint/2012/main" userId="S::tkuhlmann@AD.CIMT.DE::1711f6b0-7186-4c64-9337-80febe2bb796" providerId="AD"/>
      </p:ext>
    </p:extLst>
  </p:cmAuthor>
  <p:cmAuthor id="4" name="Armin Rabet" initials="AR" lastIdx="10" clrIdx="3">
    <p:extLst>
      <p:ext uri="{19B8F6BF-5375-455C-9EA6-DF929625EA0E}">
        <p15:presenceInfo xmlns:p15="http://schemas.microsoft.com/office/powerpoint/2012/main" userId="S::arabet@ad.cimt.de::0885c815-f4d8-499c-b085-83ae2491abe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469C9"/>
    <a:srgbClr val="7FAA55"/>
    <a:srgbClr val="85B654"/>
    <a:srgbClr val="8AC251"/>
    <a:srgbClr val="E16E15"/>
    <a:srgbClr val="A8A3A3"/>
    <a:srgbClr val="1F8FA7"/>
    <a:srgbClr val="EDAA8D"/>
    <a:srgbClr val="259DB5"/>
    <a:srgbClr val="2BACC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44EE59F-F249-42EF-AFC0-583171F80966}" v="2" dt="2020-09-17T04:26:29.53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986"/>
    <p:restoredTop sz="94694"/>
  </p:normalViewPr>
  <p:slideViewPr>
    <p:cSldViewPr snapToGrid="0" snapToObjects="1" showGuides="1">
      <p:cViewPr varScale="1">
        <p:scale>
          <a:sx n="120" d="100"/>
          <a:sy n="120" d="100"/>
        </p:scale>
        <p:origin x="348" y="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 snapToObjects="1" showGuide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r. Thorsten Kuhlmann" userId="1711f6b0-7186-4c64-9337-80febe2bb796" providerId="ADAL" clId="{544EE59F-F249-42EF-AFC0-583171F80966}"/>
    <pc:docChg chg="undo custSel addSld modSld sldOrd">
      <pc:chgData name="Dr. Thorsten Kuhlmann" userId="1711f6b0-7186-4c64-9337-80febe2bb796" providerId="ADAL" clId="{544EE59F-F249-42EF-AFC0-583171F80966}" dt="2020-09-17T04:32:21.247" v="321" actId="1076"/>
      <pc:docMkLst>
        <pc:docMk/>
      </pc:docMkLst>
      <pc:sldChg chg="delSp modSp add mod">
        <pc:chgData name="Dr. Thorsten Kuhlmann" userId="1711f6b0-7186-4c64-9337-80febe2bb796" providerId="ADAL" clId="{544EE59F-F249-42EF-AFC0-583171F80966}" dt="2020-09-17T04:26:09.435" v="91" actId="478"/>
        <pc:sldMkLst>
          <pc:docMk/>
          <pc:sldMk cId="3083794139" sldId="1588"/>
        </pc:sldMkLst>
        <pc:spChg chg="mod">
          <ac:chgData name="Dr. Thorsten Kuhlmann" userId="1711f6b0-7186-4c64-9337-80febe2bb796" providerId="ADAL" clId="{544EE59F-F249-42EF-AFC0-583171F80966}" dt="2020-09-17T04:24:59.780" v="10" actId="20577"/>
          <ac:spMkLst>
            <pc:docMk/>
            <pc:sldMk cId="3083794139" sldId="1588"/>
            <ac:spMk id="2" creationId="{17B28DEC-59F7-B541-A2AC-BF06AB2051C1}"/>
          </ac:spMkLst>
        </pc:spChg>
        <pc:spChg chg="del">
          <ac:chgData name="Dr. Thorsten Kuhlmann" userId="1711f6b0-7186-4c64-9337-80febe2bb796" providerId="ADAL" clId="{544EE59F-F249-42EF-AFC0-583171F80966}" dt="2020-09-17T04:26:09.435" v="91" actId="478"/>
          <ac:spMkLst>
            <pc:docMk/>
            <pc:sldMk cId="3083794139" sldId="1588"/>
            <ac:spMk id="26" creationId="{591AF65F-6B3C-1247-BF90-E972763C07C7}"/>
          </ac:spMkLst>
        </pc:spChg>
        <pc:spChg chg="del">
          <ac:chgData name="Dr. Thorsten Kuhlmann" userId="1711f6b0-7186-4c64-9337-80febe2bb796" providerId="ADAL" clId="{544EE59F-F249-42EF-AFC0-583171F80966}" dt="2020-09-17T04:26:09.435" v="91" actId="478"/>
          <ac:spMkLst>
            <pc:docMk/>
            <pc:sldMk cId="3083794139" sldId="1588"/>
            <ac:spMk id="27" creationId="{3A55F1B9-0FCE-A04E-B83A-109E2593A2F1}"/>
          </ac:spMkLst>
        </pc:spChg>
        <pc:spChg chg="del">
          <ac:chgData name="Dr. Thorsten Kuhlmann" userId="1711f6b0-7186-4c64-9337-80febe2bb796" providerId="ADAL" clId="{544EE59F-F249-42EF-AFC0-583171F80966}" dt="2020-09-17T04:26:09.435" v="91" actId="478"/>
          <ac:spMkLst>
            <pc:docMk/>
            <pc:sldMk cId="3083794139" sldId="1588"/>
            <ac:spMk id="28" creationId="{BF672AEF-33AE-8447-A895-C5F464EEAFED}"/>
          </ac:spMkLst>
        </pc:spChg>
        <pc:spChg chg="del">
          <ac:chgData name="Dr. Thorsten Kuhlmann" userId="1711f6b0-7186-4c64-9337-80febe2bb796" providerId="ADAL" clId="{544EE59F-F249-42EF-AFC0-583171F80966}" dt="2020-09-17T04:26:09.435" v="91" actId="478"/>
          <ac:spMkLst>
            <pc:docMk/>
            <pc:sldMk cId="3083794139" sldId="1588"/>
            <ac:spMk id="29" creationId="{5A78D7AE-1BAF-F74B-803E-DB4C0E895254}"/>
          </ac:spMkLst>
        </pc:spChg>
        <pc:spChg chg="del">
          <ac:chgData name="Dr. Thorsten Kuhlmann" userId="1711f6b0-7186-4c64-9337-80febe2bb796" providerId="ADAL" clId="{544EE59F-F249-42EF-AFC0-583171F80966}" dt="2020-09-17T04:26:09.435" v="91" actId="478"/>
          <ac:spMkLst>
            <pc:docMk/>
            <pc:sldMk cId="3083794139" sldId="1588"/>
            <ac:spMk id="30" creationId="{9A41B623-A2D6-834B-A09E-FCBE9D27EA81}"/>
          </ac:spMkLst>
        </pc:spChg>
        <pc:spChg chg="mod">
          <ac:chgData name="Dr. Thorsten Kuhlmann" userId="1711f6b0-7186-4c64-9337-80febe2bb796" providerId="ADAL" clId="{544EE59F-F249-42EF-AFC0-583171F80966}" dt="2020-09-17T04:25:49.455" v="90" actId="20577"/>
          <ac:spMkLst>
            <pc:docMk/>
            <pc:sldMk cId="3083794139" sldId="1588"/>
            <ac:spMk id="31" creationId="{AE168783-B80A-5F49-A45C-D5B50A764175}"/>
          </ac:spMkLst>
        </pc:spChg>
      </pc:sldChg>
      <pc:sldChg chg="addSp delSp modSp add mod ord">
        <pc:chgData name="Dr. Thorsten Kuhlmann" userId="1711f6b0-7186-4c64-9337-80febe2bb796" providerId="ADAL" clId="{544EE59F-F249-42EF-AFC0-583171F80966}" dt="2020-09-17T04:32:21.247" v="321" actId="1076"/>
        <pc:sldMkLst>
          <pc:docMk/>
          <pc:sldMk cId="3653008487" sldId="1589"/>
        </pc:sldMkLst>
        <pc:spChg chg="mod">
          <ac:chgData name="Dr. Thorsten Kuhlmann" userId="1711f6b0-7186-4c64-9337-80febe2bb796" providerId="ADAL" clId="{544EE59F-F249-42EF-AFC0-583171F80966}" dt="2020-09-17T04:26:51.183" v="97"/>
          <ac:spMkLst>
            <pc:docMk/>
            <pc:sldMk cId="3653008487" sldId="1589"/>
            <ac:spMk id="2" creationId="{17B28DEC-59F7-B541-A2AC-BF06AB2051C1}"/>
          </ac:spMkLst>
        </pc:spChg>
        <pc:spChg chg="mod">
          <ac:chgData name="Dr. Thorsten Kuhlmann" userId="1711f6b0-7186-4c64-9337-80febe2bb796" providerId="ADAL" clId="{544EE59F-F249-42EF-AFC0-583171F80966}" dt="2020-09-17T04:32:21.247" v="321" actId="1076"/>
          <ac:spMkLst>
            <pc:docMk/>
            <pc:sldMk cId="3653008487" sldId="1589"/>
            <ac:spMk id="10" creationId="{799BCBF6-B510-564D-9C60-BE0B8D1A0621}"/>
          </ac:spMkLst>
        </pc:spChg>
        <pc:spChg chg="del">
          <ac:chgData name="Dr. Thorsten Kuhlmann" userId="1711f6b0-7186-4c64-9337-80febe2bb796" providerId="ADAL" clId="{544EE59F-F249-42EF-AFC0-583171F80966}" dt="2020-09-17T04:27:31.531" v="101" actId="478"/>
          <ac:spMkLst>
            <pc:docMk/>
            <pc:sldMk cId="3653008487" sldId="1589"/>
            <ac:spMk id="16" creationId="{E4F8A9F1-0F7B-A84C-A840-3EE7CD63150D}"/>
          </ac:spMkLst>
        </pc:spChg>
        <pc:spChg chg="del">
          <ac:chgData name="Dr. Thorsten Kuhlmann" userId="1711f6b0-7186-4c64-9337-80febe2bb796" providerId="ADAL" clId="{544EE59F-F249-42EF-AFC0-583171F80966}" dt="2020-09-17T04:27:31.531" v="101" actId="478"/>
          <ac:spMkLst>
            <pc:docMk/>
            <pc:sldMk cId="3653008487" sldId="1589"/>
            <ac:spMk id="18" creationId="{532BF5B2-1A0B-F545-B9AC-513ED6329233}"/>
          </ac:spMkLst>
        </pc:spChg>
        <pc:spChg chg="del">
          <ac:chgData name="Dr. Thorsten Kuhlmann" userId="1711f6b0-7186-4c64-9337-80febe2bb796" providerId="ADAL" clId="{544EE59F-F249-42EF-AFC0-583171F80966}" dt="2020-09-17T04:27:31.531" v="101" actId="478"/>
          <ac:spMkLst>
            <pc:docMk/>
            <pc:sldMk cId="3653008487" sldId="1589"/>
            <ac:spMk id="19" creationId="{1F115555-8814-1E4D-AB1A-23C4CB7C7C22}"/>
          </ac:spMkLst>
        </pc:spChg>
        <pc:spChg chg="del">
          <ac:chgData name="Dr. Thorsten Kuhlmann" userId="1711f6b0-7186-4c64-9337-80febe2bb796" providerId="ADAL" clId="{544EE59F-F249-42EF-AFC0-583171F80966}" dt="2020-09-17T04:27:31.531" v="101" actId="478"/>
          <ac:spMkLst>
            <pc:docMk/>
            <pc:sldMk cId="3653008487" sldId="1589"/>
            <ac:spMk id="20" creationId="{EA78C185-8B99-2D4B-89B5-D2DD9CFDAA4D}"/>
          </ac:spMkLst>
        </pc:spChg>
        <pc:spChg chg="del">
          <ac:chgData name="Dr. Thorsten Kuhlmann" userId="1711f6b0-7186-4c64-9337-80febe2bb796" providerId="ADAL" clId="{544EE59F-F249-42EF-AFC0-583171F80966}" dt="2020-09-17T04:27:31.531" v="101" actId="478"/>
          <ac:spMkLst>
            <pc:docMk/>
            <pc:sldMk cId="3653008487" sldId="1589"/>
            <ac:spMk id="32" creationId="{8D787D85-47A5-4C44-83CF-A79E2E27E032}"/>
          </ac:spMkLst>
        </pc:spChg>
        <pc:graphicFrameChg chg="add mod modGraphic">
          <ac:chgData name="Dr. Thorsten Kuhlmann" userId="1711f6b0-7186-4c64-9337-80febe2bb796" providerId="ADAL" clId="{544EE59F-F249-42EF-AFC0-583171F80966}" dt="2020-09-17T04:32:11.656" v="320" actId="1076"/>
          <ac:graphicFrameMkLst>
            <pc:docMk/>
            <pc:sldMk cId="3653008487" sldId="1589"/>
            <ac:graphicFrameMk id="5" creationId="{6D7B3A74-9DC1-4F70-926D-BA49B89DDF78}"/>
          </ac:graphicFrameMkLst>
        </pc:graphicFrameChg>
      </pc:sldChg>
    </pc:docChg>
  </pc:docChgLst>
</pc:chgInfo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19-12-11T12:59:50.678" idx="77">
    <p:pos x="2181" y="2140"/>
    <p:text>Noch nicht abgestimmt innerhalb cimt [@Harald Ruso]Mit Internet abgleichen -&gt; Lisa</p:text>
    <p:extLst>
      <p:ext uri="{C676402C-5697-4E1C-873F-D02D1690AC5C}">
        <p15:threadingInfo xmlns:p15="http://schemas.microsoft.com/office/powerpoint/2012/main" timeZoneBias="-60"/>
      </p:ext>
    </p:extLst>
  </p:cm>
  <p:cm authorId="3" dt="2020-01-16T09:50:45.428" idx="8">
    <p:pos x="10" y="10"/>
    <p:text>Homepage 2321 Projekte. Wir sollten bei den Umsatz möglichst schnell auf 2019 wechseln. Dies als to-Do im Februar. Dann sollten die Zahlen für 2019 vorliegen. Auch die Mitarbeiterzahlen anpassen.
Daten liefert Claudia
</p:text>
    <p:extLst>
      <p:ext uri="{C676402C-5697-4E1C-873F-D02D1690AC5C}">
        <p15:threadingInfo xmlns:p15="http://schemas.microsoft.com/office/powerpoint/2012/main" timeZoneBias="480"/>
      </p:ext>
    </p:extLst>
  </p:cm>
  <p:cm authorId="1" dt="2020-01-17T08:28:14.985" idx="85">
    <p:pos x="10" y="146"/>
    <p:text>OK, ich warte auf Input!</p:text>
    <p:extLst>
      <p:ext uri="{C676402C-5697-4E1C-873F-D02D1690AC5C}">
        <p15:threadingInfo xmlns:p15="http://schemas.microsoft.com/office/powerpoint/2012/main" timeZoneBias="-60">
          <p15:parentCm authorId="3" idx="8"/>
        </p15:threadingInfo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19-12-10T12:03:47.139" idx="73">
    <p:pos x="10" y="10"/>
    <p:text>[@Armin Rabet]: Logos anordnen.</p:text>
    <p:extLst>
      <p:ext uri="{C676402C-5697-4E1C-873F-D02D1690AC5C}">
        <p15:threadingInfo xmlns:p15="http://schemas.microsoft.com/office/powerpoint/2012/main" timeZoneBias="-60"/>
      </p:ext>
    </p:extLst>
  </p:cm>
  <p:cm authorId="1" dt="2019-12-11T13:19:56.345" idx="80">
    <p:pos x="10" y="202"/>
    <p:text>Bewertung Torsten: adidas "sehr alt", BMW "nur WMD" aber international, Bosch "sehr alt" (&gt; Arnt), ECE "schwächer" &gt; Deutsche Wohnen &lt; oder TLG, Globus "OK" (Handel und CAR), Lufthansa "objects, kein SAP", Metro (&gt; Arnt), Olympus "sehr aktuell, international, full-service - IBP und APO", Otto "aktiv, sehr groß (objects und SAP) incl. Bonprix, Qiagen "international, Biotechnik", "Principalkonzept", Raytheon "komplettes SAP-Portfolio, APO-DP und -PPDS" "WM", Salling-Group (KPS, Integration, u.a. EWM), Schwartau "1. Stufe S/4", "BI incl. Planung", T-Systems (&gt; Hartmut Poppe), &gt; Hawesko (Handel, BI, "Celonis")</p:text>
    <p:extLst>
      <p:ext uri="{C676402C-5697-4E1C-873F-D02D1690AC5C}">
        <p15:threadingInfo xmlns:p15="http://schemas.microsoft.com/office/powerpoint/2012/main" timeZoneBias="-60">
          <p15:parentCm authorId="1" idx="73"/>
        </p15:threadingInfo>
      </p:ext>
    </p:extLst>
  </p:cm>
  <p:cm authorId="1" dt="2020-02-13T08:10:34.353" idx="90">
    <p:pos x="2950" y="1292"/>
    <p:text>[@Armin Rabet]Hallo Armin, gestern bei einer Präsentation bei einem potentiellen Partner ist mir aufgefallen, dass das Audi-Logo "unsauber" dargestellt wurde - es hatte graue/schwarze Ränder - liegt das am Logo oder lag das am Beamer? Sollten wir in unserem nächsten Meeting besprechen :-)</p:text>
    <p:extLst>
      <p:ext uri="{C676402C-5697-4E1C-873F-D02D1690AC5C}">
        <p15:threadingInfo xmlns:p15="http://schemas.microsoft.com/office/powerpoint/2012/main" timeZoneBias="-60"/>
      </p:ext>
    </p:extLs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0-01-15T14:25:34.411" idx="83">
    <p:pos x="10" y="10"/>
    <p:text>&lt;@Armin Rabet&gt;wie besprochen, werde ich die aktuellen Produkt One-Pager in den entsprechenden Ordner übertragen und in der Unternehmenspräsentation löschen</p:text>
    <p:extLst>
      <p:ext uri="{C676402C-5697-4E1C-873F-D02D1690AC5C}">
        <p15:threadingInfo xmlns:p15="http://schemas.microsoft.com/office/powerpoint/2012/main" timeZoneBias="-60"/>
      </p:ext>
    </p:extLst>
  </p:cm>
</p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88C1B4BF-0364-4725-8783-FCDE9CFD640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1543" cy="720281"/>
          </a:xfrm>
          <a:prstGeom prst="rect">
            <a:avLst/>
          </a:prstGeom>
        </p:spPr>
        <p:txBody>
          <a:bodyPr vert="horz" lIns="138751" tIns="69376" rIns="138751" bIns="69376" rtlCol="0"/>
          <a:lstStyle>
            <a:lvl1pPr algn="l">
              <a:defRPr sz="18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E743BC8-3A28-4968-B1B6-461E127A20C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622798" y="0"/>
            <a:ext cx="4301543" cy="720281"/>
          </a:xfrm>
          <a:prstGeom prst="rect">
            <a:avLst/>
          </a:prstGeom>
        </p:spPr>
        <p:txBody>
          <a:bodyPr vert="horz" lIns="138751" tIns="69376" rIns="138751" bIns="69376" rtlCol="0"/>
          <a:lstStyle>
            <a:lvl1pPr algn="r">
              <a:defRPr sz="1800"/>
            </a:lvl1pPr>
          </a:lstStyle>
          <a:p>
            <a:fld id="{68181D99-969C-440E-9A97-8B79C0663F93}" type="datetimeFigureOut">
              <a:rPr lang="de-DE" smtClean="0"/>
              <a:t>14.07.2026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B0E6693-9C38-4E24-A053-F90EB1168C8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3635484"/>
            <a:ext cx="4301543" cy="720280"/>
          </a:xfrm>
          <a:prstGeom prst="rect">
            <a:avLst/>
          </a:prstGeom>
        </p:spPr>
        <p:txBody>
          <a:bodyPr vert="horz" lIns="138751" tIns="69376" rIns="138751" bIns="69376" rtlCol="0" anchor="b"/>
          <a:lstStyle>
            <a:lvl1pPr algn="l">
              <a:defRPr sz="18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C4AC6D1-ACE9-4A4A-A132-B24DE7C2F6C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622798" y="13635484"/>
            <a:ext cx="4301543" cy="720280"/>
          </a:xfrm>
          <a:prstGeom prst="rect">
            <a:avLst/>
          </a:prstGeom>
        </p:spPr>
        <p:txBody>
          <a:bodyPr vert="horz" lIns="138751" tIns="69376" rIns="138751" bIns="69376" rtlCol="0" anchor="b"/>
          <a:lstStyle>
            <a:lvl1pPr algn="r">
              <a:defRPr sz="1800"/>
            </a:lvl1pPr>
          </a:lstStyle>
          <a:p>
            <a:fld id="{AD78C9FC-C613-4E1A-B8CD-0CC8D66C5B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383104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1543" cy="720281"/>
          </a:xfrm>
          <a:prstGeom prst="rect">
            <a:avLst/>
          </a:prstGeom>
        </p:spPr>
        <p:txBody>
          <a:bodyPr vert="horz" lIns="138751" tIns="69376" rIns="138751" bIns="69376" rtlCol="0"/>
          <a:lstStyle>
            <a:lvl1pPr algn="l">
              <a:defRPr sz="18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5622798" y="0"/>
            <a:ext cx="4301543" cy="720281"/>
          </a:xfrm>
          <a:prstGeom prst="rect">
            <a:avLst/>
          </a:prstGeom>
        </p:spPr>
        <p:txBody>
          <a:bodyPr vert="horz" lIns="138751" tIns="69376" rIns="138751" bIns="69376" rtlCol="0"/>
          <a:lstStyle>
            <a:lvl1pPr algn="r">
              <a:defRPr sz="1800"/>
            </a:lvl1pPr>
          </a:lstStyle>
          <a:p>
            <a:fld id="{62667069-3294-4C37-9575-29589209FBF0}" type="datetimeFigureOut">
              <a:rPr lang="de-DE" smtClean="0"/>
              <a:t>14.07.2026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57225" y="1793875"/>
            <a:ext cx="8612188" cy="48450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38751" tIns="69376" rIns="138751" bIns="69376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992664" y="6908711"/>
            <a:ext cx="7941310" cy="5652582"/>
          </a:xfrm>
          <a:prstGeom prst="rect">
            <a:avLst/>
          </a:prstGeom>
        </p:spPr>
        <p:txBody>
          <a:bodyPr vert="horz" lIns="138751" tIns="69376" rIns="138751" bIns="69376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13635484"/>
            <a:ext cx="4301543" cy="720280"/>
          </a:xfrm>
          <a:prstGeom prst="rect">
            <a:avLst/>
          </a:prstGeom>
        </p:spPr>
        <p:txBody>
          <a:bodyPr vert="horz" lIns="138751" tIns="69376" rIns="138751" bIns="69376" rtlCol="0" anchor="b"/>
          <a:lstStyle>
            <a:lvl1pPr algn="l">
              <a:defRPr sz="18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5622798" y="13635484"/>
            <a:ext cx="4301543" cy="720280"/>
          </a:xfrm>
          <a:prstGeom prst="rect">
            <a:avLst/>
          </a:prstGeom>
        </p:spPr>
        <p:txBody>
          <a:bodyPr vert="horz" lIns="138751" tIns="69376" rIns="138751" bIns="69376" rtlCol="0" anchor="b"/>
          <a:lstStyle>
            <a:lvl1pPr algn="r">
              <a:defRPr sz="1800"/>
            </a:lvl1pPr>
          </a:lstStyle>
          <a:p>
            <a:fld id="{7F5FA27A-CCAE-45BE-9F98-D660FFE5CF8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84444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191212 Change HRU: Unterüberschrift mit Datum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5FA27A-CCAE-45BE-9F98-D660FFE5CF89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155509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1910 ARE neuer Standardfoliensatz</a:t>
            </a:r>
          </a:p>
          <a:p>
            <a:r>
              <a:rPr lang="de-DE"/>
              <a:t>191108 Change HRU: „Take </a:t>
            </a:r>
            <a:r>
              <a:rPr lang="de-DE" err="1"/>
              <a:t>Away</a:t>
            </a:r>
            <a:r>
              <a:rPr lang="de-DE"/>
              <a:t>“: „Erfahren und Erfolgreich“…</a:t>
            </a:r>
          </a:p>
          <a:p>
            <a:r>
              <a:rPr lang="de-DE"/>
              <a:t>191111 Change HRU: Überschrift geändert</a:t>
            </a:r>
          </a:p>
          <a:p>
            <a:r>
              <a:rPr lang="de-DE"/>
              <a:t>191121 Change HRU: Take </a:t>
            </a:r>
            <a:r>
              <a:rPr lang="de-DE" err="1"/>
              <a:t>Away</a:t>
            </a:r>
            <a:r>
              <a:rPr lang="de-DE"/>
              <a:t> geändert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5FA27A-CCAE-45BE-9F98-D660FFE5CF89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721895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191210 Change HRU: Folie nach vorne verschoben</a:t>
            </a:r>
          </a:p>
          <a:p>
            <a:r>
              <a:rPr lang="de-DE"/>
              <a:t>200117 Change HRU: „Pragmatisch“ zusätzlich aufgenommen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5FA27A-CCAE-45BE-9F98-D660FFE5CF89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839764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20-01-15 Chance HRU: Logos AM und CD ausgetauscht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5FA27A-CCAE-45BE-9F98-D660FFE5CF89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9097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191219 Change HRU: Überschrift und Unter-Überschrift „SAP“</a:t>
            </a:r>
          </a:p>
          <a:p>
            <a:r>
              <a:rPr lang="de-DE"/>
              <a:t>200110 Change HRU: „SAP-Partner“ (Text </a:t>
            </a:r>
            <a:r>
              <a:rPr lang="de-DE" err="1"/>
              <a:t>geänder</a:t>
            </a:r>
            <a:r>
              <a:rPr lang="de-DE"/>
              <a:t>)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5FA27A-CCAE-45BE-9F98-D660FFE5CF89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159024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5FA27A-CCAE-45BE-9F98-D660FFE5CF89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959180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191210 Change HRU: „</a:t>
            </a:r>
            <a:r>
              <a:rPr lang="de-DE" err="1"/>
              <a:t>Spell</a:t>
            </a:r>
            <a:r>
              <a:rPr lang="de-DE"/>
              <a:t>-Check“ (Medizin)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5FA27A-CCAE-45BE-9F98-D660FFE5CF89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987144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191210 Change HRU: „</a:t>
            </a:r>
            <a:r>
              <a:rPr lang="de-DE" err="1"/>
              <a:t>Spell</a:t>
            </a:r>
            <a:r>
              <a:rPr lang="de-DE"/>
              <a:t>-Check“ (Medizin)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5FA27A-CCAE-45BE-9F98-D660FFE5CF89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68689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1387511">
              <a:defRPr/>
            </a:pPr>
            <a:r>
              <a:rPr lang="de-DE"/>
              <a:t>191209 Change HRU: Logos</a:t>
            </a:r>
          </a:p>
          <a:p>
            <a:pPr defTabSz="1387511">
              <a:defRPr/>
            </a:pPr>
            <a:r>
              <a:rPr lang="de-DE"/>
              <a:t>191212 Change HRU: Logo T-Systems und Bosch entfernt, </a:t>
            </a:r>
            <a:r>
              <a:rPr lang="de-DE" err="1"/>
              <a:t>Hawesko</a:t>
            </a:r>
            <a:r>
              <a:rPr lang="de-DE"/>
              <a:t> und Philips neu.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5FA27A-CCAE-45BE-9F98-D660FFE5CF89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367890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191219 Change HRU: Überschrift und Unter-Überschrift „SAP“</a:t>
            </a:r>
          </a:p>
          <a:p>
            <a:r>
              <a:rPr lang="de-DE"/>
              <a:t>200110 Change HRU: „SAP-Partner“ (Text </a:t>
            </a:r>
            <a:r>
              <a:rPr lang="de-DE" err="1"/>
              <a:t>geänder</a:t>
            </a:r>
            <a:r>
              <a:rPr lang="de-DE"/>
              <a:t>)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5FA27A-CCAE-45BE-9F98-D660FFE5CF89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117825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5274" y="4960137"/>
            <a:ext cx="8824779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95274" y="6470704"/>
            <a:ext cx="9705977" cy="274320"/>
          </a:xfrm>
        </p:spPr>
        <p:txBody>
          <a:bodyPr vert="horz" lIns="91440" tIns="45720" rIns="91440" bIns="45720" rtlCol="0" anchor="ctr"/>
          <a:lstStyle>
            <a:lvl1pPr>
              <a:defRPr lang="de-DE" smtClean="0">
                <a:latin typeface="Metropolis" pitchFamily="2" charset="77"/>
              </a:defRPr>
            </a:lvl1pPr>
          </a:lstStyle>
          <a:p>
            <a:pPr algn="l"/>
            <a:r>
              <a:rPr lang="de-DE"/>
              <a:t>cimt - Unternehmensvorstellung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vert="horz" lIns="91440" tIns="45720" rIns="91440" bIns="45720" rtlCol="0" anchor="ctr"/>
          <a:lstStyle>
            <a:lvl1pPr>
              <a:defRPr lang="en-US" smtClean="0">
                <a:latin typeface="Metropolis" pitchFamily="2" charset="77"/>
              </a:defRPr>
            </a:lvl1pPr>
          </a:lstStyle>
          <a:p>
            <a:fld id="{4FAB73BC-B049-4115-A692-8D63A059BFB8}" type="slidenum">
              <a:rPr lang="de-DE" smtClean="0"/>
              <a:pPr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9404757" y="5264106"/>
            <a:ext cx="0" cy="91440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Grafik 11">
            <a:extLst>
              <a:ext uri="{FF2B5EF4-FFF2-40B4-BE49-F238E27FC236}">
                <a16:creationId xmlns:a16="http://schemas.microsoft.com/office/drawing/2014/main" id="{9759F79B-ABDC-4EBD-B075-F5B4AC0F703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689454" y="5264106"/>
            <a:ext cx="2012008" cy="774745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5590E31C-70CC-4F2B-B746-B5DFC04592B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689454" y="5264106"/>
            <a:ext cx="2012008" cy="774745"/>
          </a:xfrm>
          <a:prstGeom prst="rect">
            <a:avLst/>
          </a:prstGeom>
        </p:spPr>
      </p:pic>
      <p:pic>
        <p:nvPicPr>
          <p:cNvPr id="4" name="Grafik 3" descr="Ein Bild, das Gebäude, drinnen, Licht, Wand enthält.&#10;&#10;Automatisch generierte Beschreibung">
            <a:extLst>
              <a:ext uri="{FF2B5EF4-FFF2-40B4-BE49-F238E27FC236}">
                <a16:creationId xmlns:a16="http://schemas.microsoft.com/office/drawing/2014/main" id="{F1943C66-4D7C-4CB2-96CA-AEE299921F2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4572000"/>
          </a:xfrm>
          <a:prstGeom prst="rect">
            <a:avLst/>
          </a:prstGeom>
        </p:spPr>
      </p:pic>
      <p:pic>
        <p:nvPicPr>
          <p:cNvPr id="7" name="Grafik 6" descr="Ein Bild, das Gebäude, Fenster, Seite, groß enthält.&#10;&#10;Automatisch generierte Beschreibung">
            <a:extLst>
              <a:ext uri="{FF2B5EF4-FFF2-40B4-BE49-F238E27FC236}">
                <a16:creationId xmlns:a16="http://schemas.microsoft.com/office/drawing/2014/main" id="{ABDF11D1-A98C-A346-BC5B-829B1C6988C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46059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9752" y="6470704"/>
            <a:ext cx="9691499" cy="274320"/>
          </a:xfrm>
        </p:spPr>
        <p:txBody>
          <a:bodyPr/>
          <a:lstStyle>
            <a:lvl1pPr algn="l">
              <a:defRPr>
                <a:latin typeface="Metropolis" pitchFamily="2" charset="77"/>
              </a:defRPr>
            </a:lvl1pPr>
          </a:lstStyle>
          <a:p>
            <a:r>
              <a:rPr lang="de-DE" err="1"/>
              <a:t>cimt</a:t>
            </a:r>
            <a:r>
              <a:rPr lang="de-DE"/>
              <a:t> - Unternehmensvorstellung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Metropolis" pitchFamily="2" charset="77"/>
              </a:defRPr>
            </a:lvl1pPr>
          </a:lstStyle>
          <a:p>
            <a:fld id="{4FAB73BC-B049-4115-A692-8D63A059BFB8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C3A7212C-ADAE-40D4-A52F-14FCDAED9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424F0AC-5294-43C7-B7B0-1DDBEABF38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5778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8F4ECC23-D03F-3240-9AC6-872FFA9FED86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0" y="764704"/>
            <a:ext cx="12188952" cy="5706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9752" y="6470704"/>
            <a:ext cx="9691499" cy="274320"/>
          </a:xfrm>
        </p:spPr>
        <p:txBody>
          <a:bodyPr/>
          <a:lstStyle>
            <a:lvl1pPr algn="l">
              <a:defRPr>
                <a:latin typeface="Metropolis" pitchFamily="2" charset="77"/>
              </a:defRPr>
            </a:lvl1pPr>
          </a:lstStyle>
          <a:p>
            <a:r>
              <a:rPr lang="de-DE" err="1"/>
              <a:t>cimt</a:t>
            </a:r>
            <a:r>
              <a:rPr lang="de-DE"/>
              <a:t> - Unternehmensvorstellung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Metropolis" pitchFamily="2" charset="77"/>
              </a:defRPr>
            </a:lvl1pPr>
          </a:lstStyle>
          <a:p>
            <a:fld id="{4FAB73BC-B049-4115-A692-8D63A059BFB8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C3A7212C-ADAE-40D4-A52F-14FCDAED9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424F0AC-5294-43C7-B7B0-1DDBEABF38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01141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‹Nr.›</a:t>
            </a:fld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82428759-BE04-4B66-8625-6AB10E370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95274" y="6470704"/>
            <a:ext cx="9705977" cy="274320"/>
          </a:xfrm>
        </p:spPr>
        <p:txBody>
          <a:bodyPr/>
          <a:lstStyle>
            <a:lvl1pPr algn="l">
              <a:defRPr/>
            </a:lvl1pPr>
          </a:lstStyle>
          <a:p>
            <a:r>
              <a:rPr lang="de-DE"/>
              <a:t>cimt - Unternehmensvorstellung</a:t>
            </a:r>
            <a:endParaRPr lang="en-US"/>
          </a:p>
        </p:txBody>
      </p:sp>
      <p:pic>
        <p:nvPicPr>
          <p:cNvPr id="13" name="Grafik 12" descr="Ein Bild, das Gebäude, drinnen, Licht, Wand enthält.&#10;&#10;Automatisch generierte Beschreibung">
            <a:extLst>
              <a:ext uri="{FF2B5EF4-FFF2-40B4-BE49-F238E27FC236}">
                <a16:creationId xmlns:a16="http://schemas.microsoft.com/office/drawing/2014/main" id="{13233022-2798-4F38-8D01-1218C598A28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4572000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3C4FEBA2-3179-4857-89F0-57F9B55839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5274" y="4960137"/>
            <a:ext cx="8824779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cxnSp>
        <p:nvCxnSpPr>
          <p:cNvPr id="15" name="Straight Connector 7">
            <a:extLst>
              <a:ext uri="{FF2B5EF4-FFF2-40B4-BE49-F238E27FC236}">
                <a16:creationId xmlns:a16="http://schemas.microsoft.com/office/drawing/2014/main" id="{FED212E0-876D-4A08-9706-7AB365719A57}"/>
              </a:ext>
            </a:extLst>
          </p:cNvPr>
          <p:cNvCxnSpPr/>
          <p:nvPr userDrawn="1"/>
        </p:nvCxnSpPr>
        <p:spPr>
          <a:xfrm flipV="1">
            <a:off x="9404757" y="5264106"/>
            <a:ext cx="0" cy="91440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Grafik 15">
            <a:extLst>
              <a:ext uri="{FF2B5EF4-FFF2-40B4-BE49-F238E27FC236}">
                <a16:creationId xmlns:a16="http://schemas.microsoft.com/office/drawing/2014/main" id="{243A9F5A-EA8D-4B79-87EE-2DEEED147B8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689454" y="5264106"/>
            <a:ext cx="2012008" cy="774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615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23849" y="1228725"/>
            <a:ext cx="5550405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60592" y="1228725"/>
            <a:ext cx="5550405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9752" y="6470704"/>
            <a:ext cx="9691499" cy="274320"/>
          </a:xfrm>
        </p:spPr>
        <p:txBody>
          <a:bodyPr/>
          <a:lstStyle>
            <a:lvl1pPr algn="l">
              <a:defRPr/>
            </a:lvl1pPr>
          </a:lstStyle>
          <a:p>
            <a:r>
              <a:rPr lang="de-DE"/>
              <a:t>cimt - Unternehmensvorstellung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‹Nr.›</a:t>
            </a:fld>
            <a:endParaRPr lang="en-US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9C7769A1-8DE7-43AD-856A-FA529E366A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3353C209-E271-4606-A136-EDA5019DCB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9752" y="328041"/>
            <a:ext cx="11501247" cy="538734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EA9C8AAD-2722-440F-BBFF-197982CE2B3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84260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9752" y="989011"/>
            <a:ext cx="5469256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752" y="1777163"/>
            <a:ext cx="5469256" cy="457601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86112" y="989011"/>
            <a:ext cx="5469256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86112" y="1777162"/>
            <a:ext cx="5469256" cy="457601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9752" y="6470704"/>
            <a:ext cx="9691499" cy="274320"/>
          </a:xfrm>
        </p:spPr>
        <p:txBody>
          <a:bodyPr/>
          <a:lstStyle>
            <a:lvl1pPr algn="l">
              <a:defRPr/>
            </a:lvl1pPr>
          </a:lstStyle>
          <a:p>
            <a:r>
              <a:rPr lang="de-DE"/>
              <a:t>cimt - Unternehmensvorstellung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‹Nr.›</a:t>
            </a:fld>
            <a:endParaRPr lang="en-US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D3407ECD-EE4F-41A1-9427-01E21D85D9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C3FEB5DB-B7E1-47F3-AF6A-F272AC8CEBA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3588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9752" y="6470704"/>
            <a:ext cx="9691499" cy="274320"/>
          </a:xfrm>
        </p:spPr>
        <p:txBody>
          <a:bodyPr/>
          <a:lstStyle>
            <a:lvl1pPr algn="l">
              <a:defRPr/>
            </a:lvl1pPr>
          </a:lstStyle>
          <a:p>
            <a:r>
              <a:rPr lang="de-DE"/>
              <a:t>cimt - Unternehmensvorstellung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‹Nr.›</a:t>
            </a:fld>
            <a:endParaRPr lang="en-US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9C386740-D06D-435B-8F74-6C25D6826A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A0F72250-5715-4525-8A31-F785E2DCA3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117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‹Nr.›</a:t>
            </a:fld>
            <a:endParaRPr lang="en-US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81F90AE-C771-44B2-94C0-2FC4EEECAA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3FDEFFC-BBA5-401E-9D25-7912E3B251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9752" y="6470704"/>
            <a:ext cx="969149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de-DE" smtClean="0"/>
            </a:lvl1pPr>
          </a:lstStyle>
          <a:p>
            <a:r>
              <a:rPr lang="de-DE"/>
              <a:t>cimt - Unternehmensvorstellung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30E460D2-E709-4754-B15E-CF7C7C43FE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74479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471509"/>
            <a:ext cx="5678424" cy="553609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vert="horz" lIns="91440" tIns="45720" rIns="91440" bIns="45720" rtlCol="0" anchor="ctr"/>
          <a:lstStyle>
            <a:lvl1pPr>
              <a:defRPr lang="de-DE" smtClean="0"/>
            </a:lvl1pPr>
          </a:lstStyle>
          <a:p>
            <a:fld id="{4FAB73BC-B049-4115-A692-8D63A059BFB8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2CB453C-22B9-4219-9551-06CEB3B85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3151CEFC-1C75-4F9C-A15B-74DF4334FB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9752" y="6470704"/>
            <a:ext cx="969149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de-DE" smtClean="0"/>
            </a:lvl1pPr>
          </a:lstStyle>
          <a:p>
            <a:r>
              <a:rPr lang="de-DE"/>
              <a:t>cimt - Unternehmensvorstellung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AA0FE878-6EF8-4D40-A9A6-213CCC8B4A9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2067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95274" y="6470704"/>
            <a:ext cx="9705977" cy="274320"/>
          </a:xfrm>
        </p:spPr>
        <p:txBody>
          <a:bodyPr vert="horz" lIns="91440" tIns="45720" rIns="91440" bIns="45720" rtlCol="0" anchor="ctr"/>
          <a:lstStyle>
            <a:lvl1pPr>
              <a:defRPr lang="de-DE" smtClean="0"/>
            </a:lvl1pPr>
          </a:lstStyle>
          <a:p>
            <a:r>
              <a:rPr lang="de-DE"/>
              <a:t>cimt - Unternehmensvorstellung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E5644-1E61-4311-A31E-84CB9C7AA8A9}" type="slidenum">
              <a:rPr lang="en-US" smtClean="0"/>
              <a:t>‹Nr.›</a:t>
            </a:fld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9FD91EBA-CB49-44B4-9475-F4CED7F653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5274" y="4960137"/>
            <a:ext cx="8824779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cxnSp>
        <p:nvCxnSpPr>
          <p:cNvPr id="11" name="Straight Connector 7">
            <a:extLst>
              <a:ext uri="{FF2B5EF4-FFF2-40B4-BE49-F238E27FC236}">
                <a16:creationId xmlns:a16="http://schemas.microsoft.com/office/drawing/2014/main" id="{8E7B0E90-6088-4A49-AC3D-AE7F432BD188}"/>
              </a:ext>
            </a:extLst>
          </p:cNvPr>
          <p:cNvCxnSpPr/>
          <p:nvPr userDrawn="1"/>
        </p:nvCxnSpPr>
        <p:spPr>
          <a:xfrm flipV="1">
            <a:off x="9404757" y="5264106"/>
            <a:ext cx="0" cy="91440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Grafik 11">
            <a:extLst>
              <a:ext uri="{FF2B5EF4-FFF2-40B4-BE49-F238E27FC236}">
                <a16:creationId xmlns:a16="http://schemas.microsoft.com/office/drawing/2014/main" id="{96DD5E22-44DE-43D2-9F71-51AB77A9101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689454" y="5264106"/>
            <a:ext cx="2012008" cy="774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192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9752" y="6470704"/>
            <a:ext cx="9691499" cy="274320"/>
          </a:xfrm>
        </p:spPr>
        <p:txBody>
          <a:bodyPr/>
          <a:lstStyle>
            <a:lvl1pPr algn="l">
              <a:defRPr/>
            </a:lvl1pPr>
          </a:lstStyle>
          <a:p>
            <a:r>
              <a:rPr lang="de-DE"/>
              <a:t>cimt - Unternehmensvorstellung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‹Nr.›</a:t>
            </a:fld>
            <a:endParaRPr lang="en-US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82C718A1-FBE3-4DF6-98E8-AE2F362D50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E099B9E8-02DC-406D-BBCA-5C8EB8D413C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22379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05815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23851" y="762000"/>
            <a:ext cx="7581900" cy="541020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‹Nr.›</a:t>
            </a:fld>
            <a:endParaRPr lang="en-US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A1C8CC31-D00F-4E25-BAEC-62BC7A35AC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64249FDA-2F96-46D0-87DB-AC67A7112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9752" y="6470704"/>
            <a:ext cx="9691499" cy="274320"/>
          </a:xfrm>
        </p:spPr>
        <p:txBody>
          <a:bodyPr/>
          <a:lstStyle>
            <a:lvl1pPr algn="l">
              <a:defRPr/>
            </a:lvl1pPr>
          </a:lstStyle>
          <a:p>
            <a:r>
              <a:rPr lang="de-DE"/>
              <a:t>cimt - Unternehmensvorstellung</a:t>
            </a:r>
            <a:endParaRPr lang="en-US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5082D8A-63E3-40CE-B704-A8727A5BA92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72213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95274" y="6470704"/>
            <a:ext cx="9705977" cy="274320"/>
          </a:xfrm>
        </p:spPr>
        <p:txBody>
          <a:bodyPr/>
          <a:lstStyle>
            <a:lvl1pPr algn="l">
              <a:defRPr/>
            </a:lvl1pPr>
          </a:lstStyle>
          <a:p>
            <a:r>
              <a:rPr lang="de-DE"/>
              <a:t>cimt - Unternehmensvorstellung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‹Nr.›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5C9D1351-0DB3-4FDF-8B52-4B1C399FB4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5274" y="4960137"/>
            <a:ext cx="8824779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cxnSp>
        <p:nvCxnSpPr>
          <p:cNvPr id="14" name="Straight Connector 7">
            <a:extLst>
              <a:ext uri="{FF2B5EF4-FFF2-40B4-BE49-F238E27FC236}">
                <a16:creationId xmlns:a16="http://schemas.microsoft.com/office/drawing/2014/main" id="{5F0AC10C-DADC-4083-9D62-22C286A01EE2}"/>
              </a:ext>
            </a:extLst>
          </p:cNvPr>
          <p:cNvCxnSpPr/>
          <p:nvPr userDrawn="1"/>
        </p:nvCxnSpPr>
        <p:spPr>
          <a:xfrm flipV="1">
            <a:off x="9404757" y="5264106"/>
            <a:ext cx="0" cy="91440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Grafik 14">
            <a:extLst>
              <a:ext uri="{FF2B5EF4-FFF2-40B4-BE49-F238E27FC236}">
                <a16:creationId xmlns:a16="http://schemas.microsoft.com/office/drawing/2014/main" id="{8054834B-B0BF-4D65-A365-58C2E664A14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689454" y="5264106"/>
            <a:ext cx="2012008" cy="774745"/>
          </a:xfrm>
          <a:prstGeom prst="rect">
            <a:avLst/>
          </a:prstGeom>
        </p:spPr>
      </p:pic>
      <p:pic>
        <p:nvPicPr>
          <p:cNvPr id="16" name="Grafik 15" descr="Ein Bild, das Gebäude, drinnen, Licht, Wand enthält.&#10;&#10;Automatisch generierte Beschreibung">
            <a:extLst>
              <a:ext uri="{FF2B5EF4-FFF2-40B4-BE49-F238E27FC236}">
                <a16:creationId xmlns:a16="http://schemas.microsoft.com/office/drawing/2014/main" id="{DC571EC7-C893-4F1C-93C2-FE81B262BB0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4572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‹Nr.›</a:t>
            </a:fld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82428759-BE04-4B66-8625-6AB10E370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95274" y="6470704"/>
            <a:ext cx="9705977" cy="274320"/>
          </a:xfrm>
        </p:spPr>
        <p:txBody>
          <a:bodyPr/>
          <a:lstStyle>
            <a:lvl1pPr algn="l">
              <a:defRPr/>
            </a:lvl1pPr>
          </a:lstStyle>
          <a:p>
            <a:r>
              <a:rPr lang="de-DE"/>
              <a:t>cimt - Unternehmensvorstellung</a:t>
            </a:r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463104DB-7FDF-4B46-BDF6-85408632C1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5274" y="4960137"/>
            <a:ext cx="8824779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cxnSp>
        <p:nvCxnSpPr>
          <p:cNvPr id="14" name="Straight Connector 7">
            <a:extLst>
              <a:ext uri="{FF2B5EF4-FFF2-40B4-BE49-F238E27FC236}">
                <a16:creationId xmlns:a16="http://schemas.microsoft.com/office/drawing/2014/main" id="{3F31EE67-2DE6-4EDB-9F16-4271FA388885}"/>
              </a:ext>
            </a:extLst>
          </p:cNvPr>
          <p:cNvCxnSpPr/>
          <p:nvPr userDrawn="1"/>
        </p:nvCxnSpPr>
        <p:spPr>
          <a:xfrm flipV="1">
            <a:off x="9404757" y="5264106"/>
            <a:ext cx="0" cy="91440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Grafik 14">
            <a:extLst>
              <a:ext uri="{FF2B5EF4-FFF2-40B4-BE49-F238E27FC236}">
                <a16:creationId xmlns:a16="http://schemas.microsoft.com/office/drawing/2014/main" id="{3D18AE84-4AEC-4874-BC78-68C5FC2EEA4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689454" y="5264106"/>
            <a:ext cx="2012008" cy="774745"/>
          </a:xfrm>
          <a:prstGeom prst="rect">
            <a:avLst/>
          </a:prstGeom>
        </p:spPr>
      </p:pic>
      <p:pic>
        <p:nvPicPr>
          <p:cNvPr id="16" name="Grafik 15" descr="Ein Bild, das Gebäude, drinnen, Licht, Wand enthält.&#10;&#10;Automatisch generierte Beschreibung">
            <a:extLst>
              <a:ext uri="{FF2B5EF4-FFF2-40B4-BE49-F238E27FC236}">
                <a16:creationId xmlns:a16="http://schemas.microsoft.com/office/drawing/2014/main" id="{21086B21-A1BB-411A-B093-4085AD185B6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4572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23849" y="1228725"/>
            <a:ext cx="5550405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60592" y="1228725"/>
            <a:ext cx="5550405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9752" y="6470704"/>
            <a:ext cx="9691499" cy="274320"/>
          </a:xfrm>
        </p:spPr>
        <p:txBody>
          <a:bodyPr/>
          <a:lstStyle>
            <a:lvl1pPr algn="l">
              <a:defRPr/>
            </a:lvl1pPr>
          </a:lstStyle>
          <a:p>
            <a:r>
              <a:rPr lang="de-DE"/>
              <a:t>cimt - Unternehmensvorstellung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‹Nr.›</a:t>
            </a:fld>
            <a:endParaRPr lang="en-US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9C7769A1-8DE7-43AD-856A-FA529E366A9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3353C209-E271-4606-A136-EDA5019DCB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9752" y="328041"/>
            <a:ext cx="11501247" cy="538734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mplett 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767649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95274" y="6470704"/>
            <a:ext cx="9705977" cy="274320"/>
          </a:xfrm>
        </p:spPr>
        <p:txBody>
          <a:bodyPr/>
          <a:lstStyle>
            <a:lvl1pPr algn="l">
              <a:defRPr/>
            </a:lvl1pPr>
          </a:lstStyle>
          <a:p>
            <a:r>
              <a:rPr lang="de-DE"/>
              <a:t>cimt - Unternehmensvorstellung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E5644-1E61-4311-A31E-84CB9C7AA8A9}" type="slidenum">
              <a:rPr lang="en-US" dirty="0"/>
              <a:t>‹Nr.›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1">
            <a:extLst>
              <a:ext uri="{FF2B5EF4-FFF2-40B4-BE49-F238E27FC236}">
                <a16:creationId xmlns:a16="http://schemas.microsoft.com/office/drawing/2014/main" id="{DD930642-EA68-4239-A9E8-3BC0D96357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5274" y="4960137"/>
            <a:ext cx="7867803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9752" y="328041"/>
            <a:ext cx="11501247" cy="5387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9752" y="971550"/>
            <a:ext cx="9691499" cy="533781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9752" y="6470704"/>
            <a:ext cx="969149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de-DE" sz="1000" cap="all" baseline="0" smtClean="0">
                <a:solidFill>
                  <a:schemeClr val="tx1">
                    <a:lumMod val="95000"/>
                    <a:lumOff val="5000"/>
                  </a:schemeClr>
                </a:solidFill>
                <a:latin typeface="Metropolis" pitchFamily="2" charset="77"/>
              </a:defRPr>
            </a:lvl1pPr>
          </a:lstStyle>
          <a:p>
            <a:r>
              <a:rPr lang="de-DE"/>
              <a:t>cimt - Unternehmensvorstellung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63325" y="6470704"/>
            <a:ext cx="676275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sz="1000" smtClean="0">
                <a:solidFill>
                  <a:schemeClr val="tx1">
                    <a:lumMod val="95000"/>
                    <a:lumOff val="5000"/>
                  </a:schemeClr>
                </a:solidFill>
                <a:latin typeface="Metropolis" pitchFamily="2" charset="77"/>
              </a:defRPr>
            </a:lvl1pPr>
          </a:lstStyle>
          <a:p>
            <a:fld id="{4FAB73BC-B049-4115-A692-8D63A059BFB8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B4C3D20A-C4E0-4362-BFDD-95A3BEC9D831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46C7415C-4977-4319-945C-4B3AC1C51C3D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4267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74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49" r:id="rId13"/>
    <p:sldLayoutId id="2147483651" r:id="rId14"/>
    <p:sldLayoutId id="2147483652" r:id="rId15"/>
    <p:sldLayoutId id="2147483673" r:id="rId16"/>
    <p:sldLayoutId id="2147483660" r:id="rId17"/>
  </p:sldLayoutIdLst>
  <p:hf hd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svg"/><Relationship Id="rId11" Type="http://schemas.openxmlformats.org/officeDocument/2006/relationships/comments" Target="../comments/comment1.xml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svg"/><Relationship Id="rId9" Type="http://schemas.openxmlformats.org/officeDocument/2006/relationships/image" Target="../media/image12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3" Type="http://schemas.openxmlformats.org/officeDocument/2006/relationships/image" Target="../media/image15.jpeg"/><Relationship Id="rId7" Type="http://schemas.openxmlformats.org/officeDocument/2006/relationships/image" Target="../media/image19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svg"/><Relationship Id="rId11" Type="http://schemas.openxmlformats.org/officeDocument/2006/relationships/image" Target="../media/image23.svg"/><Relationship Id="rId5" Type="http://schemas.openxmlformats.org/officeDocument/2006/relationships/image" Target="../media/image17.svg"/><Relationship Id="rId10" Type="http://schemas.openxmlformats.org/officeDocument/2006/relationships/image" Target="../media/image22.svg"/><Relationship Id="rId4" Type="http://schemas.openxmlformats.org/officeDocument/2006/relationships/image" Target="../media/image16.svg"/><Relationship Id="rId9" Type="http://schemas.openxmlformats.org/officeDocument/2006/relationships/image" Target="../media/image21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jpeg"/><Relationship Id="rId13" Type="http://schemas.openxmlformats.org/officeDocument/2006/relationships/image" Target="../media/image37.png"/><Relationship Id="rId18" Type="http://schemas.openxmlformats.org/officeDocument/2006/relationships/comments" Target="../comments/comment2.xml"/><Relationship Id="rId3" Type="http://schemas.openxmlformats.org/officeDocument/2006/relationships/image" Target="../media/image27.png"/><Relationship Id="rId7" Type="http://schemas.openxmlformats.org/officeDocument/2006/relationships/image" Target="../media/image31.svg"/><Relationship Id="rId12" Type="http://schemas.openxmlformats.org/officeDocument/2006/relationships/image" Target="../media/image36.png"/><Relationship Id="rId17" Type="http://schemas.openxmlformats.org/officeDocument/2006/relationships/image" Target="../media/image41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5" Type="http://schemas.openxmlformats.org/officeDocument/2006/relationships/image" Target="../media/image39.png"/><Relationship Id="rId10" Type="http://schemas.openxmlformats.org/officeDocument/2006/relationships/image" Target="../media/image34.png"/><Relationship Id="rId4" Type="http://schemas.openxmlformats.org/officeDocument/2006/relationships/image" Target="../media/image28.jpeg"/><Relationship Id="rId9" Type="http://schemas.openxmlformats.org/officeDocument/2006/relationships/image" Target="../media/image33.png"/><Relationship Id="rId14" Type="http://schemas.openxmlformats.org/officeDocument/2006/relationships/image" Target="../media/image38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3.xml"/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5">
            <a:extLst>
              <a:ext uri="{FF2B5EF4-FFF2-40B4-BE49-F238E27FC236}">
                <a16:creationId xmlns:a16="http://schemas.microsoft.com/office/drawing/2014/main" id="{2C6514EF-FC1A-4E94-A8D5-143C53816E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5274" y="4960137"/>
            <a:ext cx="8824779" cy="1463040"/>
          </a:xfrm>
        </p:spPr>
        <p:txBody>
          <a:bodyPr>
            <a:normAutofit/>
          </a:bodyPr>
          <a:lstStyle/>
          <a:p>
            <a:r>
              <a:rPr lang="de-DE" sz="4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etropolis" pitchFamily="2" charset="77"/>
              </a:rPr>
              <a:t>VORSTELLUNG CIMT AG</a:t>
            </a:r>
            <a:br>
              <a:rPr lang="de-DE" sz="4400" b="1">
                <a:solidFill>
                  <a:schemeClr val="tx1">
                    <a:lumMod val="50000"/>
                    <a:lumOff val="50000"/>
                  </a:schemeClr>
                </a:solidFill>
                <a:latin typeface="Metropolis" pitchFamily="2" charset="77"/>
              </a:rPr>
            </a:br>
            <a:r>
              <a:rPr lang="de-DE" sz="3200" b="1">
                <a:solidFill>
                  <a:schemeClr val="tx1">
                    <a:lumMod val="50000"/>
                    <a:lumOff val="50000"/>
                  </a:schemeClr>
                </a:solidFill>
                <a:latin typeface="Metropolis" pitchFamily="2" charset="77"/>
              </a:rPr>
              <a:t>APRIL </a:t>
            </a:r>
            <a:r>
              <a:rPr lang="de-DE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etropolis" pitchFamily="2" charset="77"/>
              </a:rPr>
              <a:t>2020</a:t>
            </a:r>
            <a:endParaRPr lang="de-DE" sz="4400" b="1" dirty="0">
              <a:solidFill>
                <a:schemeClr val="tx1">
                  <a:lumMod val="50000"/>
                  <a:lumOff val="50000"/>
                </a:schemeClr>
              </a:solidFill>
              <a:latin typeface="Metropoli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7053743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 descr="Ein Bild, das drinnen, Computer, Essen, Tisch enthält.&#10;&#10;Automatisch generierte Beschreibung">
            <a:extLst>
              <a:ext uri="{FF2B5EF4-FFF2-40B4-BE49-F238E27FC236}">
                <a16:creationId xmlns:a16="http://schemas.microsoft.com/office/drawing/2014/main" id="{81F1AF62-346C-774E-8713-C180C656169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16014"/>
          <a:stretch/>
        </p:blipFill>
        <p:spPr>
          <a:xfrm>
            <a:off x="0" y="769601"/>
            <a:ext cx="12192000" cy="5701103"/>
          </a:xfrm>
          <a:prstGeom prst="rect">
            <a:avLst/>
          </a:prstGeom>
        </p:spPr>
      </p:pic>
      <p:sp>
        <p:nvSpPr>
          <p:cNvPr id="6" name="Titel 5">
            <a:extLst>
              <a:ext uri="{FF2B5EF4-FFF2-40B4-BE49-F238E27FC236}">
                <a16:creationId xmlns:a16="http://schemas.microsoft.com/office/drawing/2014/main" id="{E24C7FEC-FE0E-400E-9D17-010B5E52E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3200" b="1">
                <a:solidFill>
                  <a:schemeClr val="tx1">
                    <a:lumMod val="50000"/>
                    <a:lumOff val="50000"/>
                  </a:schemeClr>
                </a:solidFill>
                <a:latin typeface="Metropolis" pitchFamily="2" charset="77"/>
              </a:rPr>
              <a:t>Cimt AG: Daten &amp; Fakten</a:t>
            </a:r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1BCB89FA-1F12-B241-BEFC-ABB6D639813C}"/>
              </a:ext>
            </a:extLst>
          </p:cNvPr>
          <p:cNvGrpSpPr/>
          <p:nvPr/>
        </p:nvGrpSpPr>
        <p:grpSpPr>
          <a:xfrm>
            <a:off x="327563" y="1966615"/>
            <a:ext cx="1088844" cy="801188"/>
            <a:chOff x="982308" y="1852315"/>
            <a:chExt cx="1088844" cy="801188"/>
          </a:xfrm>
        </p:grpSpPr>
        <p:pic>
          <p:nvPicPr>
            <p:cNvPr id="15" name="Grafik 14" descr="Benutzer">
              <a:extLst>
                <a:ext uri="{FF2B5EF4-FFF2-40B4-BE49-F238E27FC236}">
                  <a16:creationId xmlns:a16="http://schemas.microsoft.com/office/drawing/2014/main" id="{D76A0E9E-F7B6-40E3-B3CC-D9D9B46BFC4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82308" y="1852315"/>
              <a:ext cx="449090" cy="449090"/>
            </a:xfrm>
            <a:prstGeom prst="rect">
              <a:avLst/>
            </a:prstGeom>
          </p:spPr>
        </p:pic>
        <p:pic>
          <p:nvPicPr>
            <p:cNvPr id="16" name="Grafik 15" descr="Benutzer">
              <a:extLst>
                <a:ext uri="{FF2B5EF4-FFF2-40B4-BE49-F238E27FC236}">
                  <a16:creationId xmlns:a16="http://schemas.microsoft.com/office/drawing/2014/main" id="{6C3471AD-D16C-4D20-B077-2EF60A1EE28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302185" y="1852315"/>
              <a:ext cx="449090" cy="449090"/>
            </a:xfrm>
            <a:prstGeom prst="rect">
              <a:avLst/>
            </a:prstGeom>
          </p:spPr>
        </p:pic>
        <p:pic>
          <p:nvPicPr>
            <p:cNvPr id="17" name="Grafik 16" descr="Benutzer">
              <a:extLst>
                <a:ext uri="{FF2B5EF4-FFF2-40B4-BE49-F238E27FC236}">
                  <a16:creationId xmlns:a16="http://schemas.microsoft.com/office/drawing/2014/main" id="{501B78FF-3570-43B0-B2AE-6E1B884499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622062" y="1852315"/>
              <a:ext cx="449090" cy="449090"/>
            </a:xfrm>
            <a:prstGeom prst="rect">
              <a:avLst/>
            </a:prstGeom>
          </p:spPr>
        </p:pic>
        <p:pic>
          <p:nvPicPr>
            <p:cNvPr id="18" name="Grafik 17" descr="Benutzer">
              <a:extLst>
                <a:ext uri="{FF2B5EF4-FFF2-40B4-BE49-F238E27FC236}">
                  <a16:creationId xmlns:a16="http://schemas.microsoft.com/office/drawing/2014/main" id="{3CBA7591-44B2-4429-A2F1-AF2FA396A63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82308" y="2204413"/>
              <a:ext cx="449090" cy="449090"/>
            </a:xfrm>
            <a:prstGeom prst="rect">
              <a:avLst/>
            </a:prstGeom>
          </p:spPr>
        </p:pic>
        <p:pic>
          <p:nvPicPr>
            <p:cNvPr id="19" name="Grafik 18" descr="Benutzer">
              <a:extLst>
                <a:ext uri="{FF2B5EF4-FFF2-40B4-BE49-F238E27FC236}">
                  <a16:creationId xmlns:a16="http://schemas.microsoft.com/office/drawing/2014/main" id="{47DD0181-3EEF-43F4-8F92-69979B430D9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302185" y="2204413"/>
              <a:ext cx="449090" cy="449090"/>
            </a:xfrm>
            <a:prstGeom prst="rect">
              <a:avLst/>
            </a:prstGeom>
          </p:spPr>
        </p:pic>
        <p:pic>
          <p:nvPicPr>
            <p:cNvPr id="20" name="Grafik 19" descr="Benutzer">
              <a:extLst>
                <a:ext uri="{FF2B5EF4-FFF2-40B4-BE49-F238E27FC236}">
                  <a16:creationId xmlns:a16="http://schemas.microsoft.com/office/drawing/2014/main" id="{D65B8D11-67E8-4AB6-9A17-DA07E544438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622062" y="2204413"/>
              <a:ext cx="449090" cy="449090"/>
            </a:xfrm>
            <a:prstGeom prst="rect">
              <a:avLst/>
            </a:prstGeom>
          </p:spPr>
        </p:pic>
      </p:grpSp>
      <p:sp>
        <p:nvSpPr>
          <p:cNvPr id="12" name="Textfeld 11">
            <a:extLst>
              <a:ext uri="{FF2B5EF4-FFF2-40B4-BE49-F238E27FC236}">
                <a16:creationId xmlns:a16="http://schemas.microsoft.com/office/drawing/2014/main" id="{3C8DE675-3412-4D63-A00D-24C520BEF82A}"/>
              </a:ext>
            </a:extLst>
          </p:cNvPr>
          <p:cNvSpPr txBox="1"/>
          <p:nvPr/>
        </p:nvSpPr>
        <p:spPr>
          <a:xfrm>
            <a:off x="1772824" y="1612441"/>
            <a:ext cx="2258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b="1">
                <a:solidFill>
                  <a:schemeClr val="tx2"/>
                </a:solidFill>
                <a:latin typeface="Metropolis Semi" pitchFamily="2" charset="77"/>
              </a:rPr>
              <a:t>Anzahl Mitarbeiter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79F68363-B3BA-4947-9627-EBFC538DAD4A}"/>
              </a:ext>
            </a:extLst>
          </p:cNvPr>
          <p:cNvSpPr txBox="1"/>
          <p:nvPr/>
        </p:nvSpPr>
        <p:spPr>
          <a:xfrm>
            <a:off x="2470932" y="2036722"/>
            <a:ext cx="8627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3200">
                <a:solidFill>
                  <a:srgbClr val="E16E15"/>
                </a:solidFill>
              </a:rPr>
              <a:t>200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22F5E50A-F8F7-481E-AAA2-527E595837E4}"/>
              </a:ext>
            </a:extLst>
          </p:cNvPr>
          <p:cNvSpPr txBox="1"/>
          <p:nvPr/>
        </p:nvSpPr>
        <p:spPr>
          <a:xfrm>
            <a:off x="1593288" y="2530899"/>
            <a:ext cx="261802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>
                <a:solidFill>
                  <a:schemeClr val="tx1">
                    <a:lumMod val="65000"/>
                    <a:lumOff val="35000"/>
                  </a:schemeClr>
                </a:solidFill>
                <a:latin typeface="Metropolis" pitchFamily="2" charset="77"/>
              </a:rPr>
              <a:t>in Deutschland und den Niederlanden</a:t>
            </a:r>
          </a:p>
        </p:txBody>
      </p:sp>
      <p:pic>
        <p:nvPicPr>
          <p:cNvPr id="22" name="Grafik 21" descr="Handschlag">
            <a:extLst>
              <a:ext uri="{FF2B5EF4-FFF2-40B4-BE49-F238E27FC236}">
                <a16:creationId xmlns:a16="http://schemas.microsoft.com/office/drawing/2014/main" id="{9FA6C8E3-5915-4102-9E46-68C950C79D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9521" y="3183847"/>
            <a:ext cx="1144929" cy="1144929"/>
          </a:xfrm>
          <a:prstGeom prst="rect">
            <a:avLst/>
          </a:prstGeom>
        </p:spPr>
      </p:pic>
      <p:sp>
        <p:nvSpPr>
          <p:cNvPr id="23" name="Textfeld 22">
            <a:extLst>
              <a:ext uri="{FF2B5EF4-FFF2-40B4-BE49-F238E27FC236}">
                <a16:creationId xmlns:a16="http://schemas.microsoft.com/office/drawing/2014/main" id="{9D22D167-503F-491B-B91C-BB30370ABABA}"/>
              </a:ext>
            </a:extLst>
          </p:cNvPr>
          <p:cNvSpPr txBox="1"/>
          <p:nvPr/>
        </p:nvSpPr>
        <p:spPr>
          <a:xfrm>
            <a:off x="1921904" y="2943364"/>
            <a:ext cx="19607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algn="ctr">
              <a:defRPr b="1">
                <a:solidFill>
                  <a:schemeClr val="tx2"/>
                </a:solidFill>
                <a:latin typeface="Metropolis Semi" pitchFamily="2" charset="77"/>
              </a:defRPr>
            </a:lvl1pPr>
          </a:lstStyle>
          <a:p>
            <a:r>
              <a:rPr lang="de-DE"/>
              <a:t>Anzahl Projekte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8DA84DEF-293E-4FD8-88F9-9CB5900D1631}"/>
              </a:ext>
            </a:extLst>
          </p:cNvPr>
          <p:cNvSpPr txBox="1"/>
          <p:nvPr/>
        </p:nvSpPr>
        <p:spPr>
          <a:xfrm>
            <a:off x="2357920" y="3355213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algn="ctr">
              <a:defRPr sz="3200">
                <a:solidFill>
                  <a:srgbClr val="E16E15"/>
                </a:solidFill>
              </a:defRPr>
            </a:lvl1pPr>
          </a:lstStyle>
          <a:p>
            <a:r>
              <a:rPr lang="de-DE"/>
              <a:t>1678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C25F87AF-25C9-40F2-9956-3F555B43C4EC}"/>
              </a:ext>
            </a:extLst>
          </p:cNvPr>
          <p:cNvSpPr txBox="1"/>
          <p:nvPr/>
        </p:nvSpPr>
        <p:spPr>
          <a:xfrm>
            <a:off x="2177582" y="3841532"/>
            <a:ext cx="144943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>
                <a:solidFill>
                  <a:schemeClr val="tx1">
                    <a:lumMod val="65000"/>
                    <a:lumOff val="35000"/>
                  </a:schemeClr>
                </a:solidFill>
                <a:latin typeface="Metropolis" pitchFamily="2" charset="77"/>
              </a:rPr>
              <a:t>umgesetzt weltweit</a:t>
            </a:r>
          </a:p>
        </p:txBody>
      </p:sp>
      <p:pic>
        <p:nvPicPr>
          <p:cNvPr id="27" name="Grafik 26" descr="Aufwärtstrend">
            <a:extLst>
              <a:ext uri="{FF2B5EF4-FFF2-40B4-BE49-F238E27FC236}">
                <a16:creationId xmlns:a16="http://schemas.microsoft.com/office/drawing/2014/main" id="{8D8ECAC1-7FEC-408C-A164-4C6F8A5090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43266" y="3357101"/>
            <a:ext cx="733398" cy="733398"/>
          </a:xfrm>
          <a:prstGeom prst="rect">
            <a:avLst/>
          </a:prstGeom>
        </p:spPr>
      </p:pic>
      <p:sp>
        <p:nvSpPr>
          <p:cNvPr id="28" name="Textfeld 27">
            <a:extLst>
              <a:ext uri="{FF2B5EF4-FFF2-40B4-BE49-F238E27FC236}">
                <a16:creationId xmlns:a16="http://schemas.microsoft.com/office/drawing/2014/main" id="{0B529DAE-B9D6-4FFB-B40D-B0849F160A4B}"/>
              </a:ext>
            </a:extLst>
          </p:cNvPr>
          <p:cNvSpPr txBox="1"/>
          <p:nvPr/>
        </p:nvSpPr>
        <p:spPr>
          <a:xfrm>
            <a:off x="6317250" y="2943364"/>
            <a:ext cx="16289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b="1">
                <a:solidFill>
                  <a:schemeClr val="tx2"/>
                </a:solidFill>
                <a:latin typeface="Metropolis Semi" pitchFamily="2" charset="77"/>
              </a:rPr>
              <a:t>Umsatz</a:t>
            </a:r>
            <a:r>
              <a:rPr lang="de-DE">
                <a:solidFill>
                  <a:schemeClr val="tx2"/>
                </a:solidFill>
              </a:rPr>
              <a:t> </a:t>
            </a:r>
            <a:r>
              <a:rPr lang="de-DE" b="1">
                <a:solidFill>
                  <a:schemeClr val="tx2"/>
                </a:solidFill>
                <a:latin typeface="Metropolis Semi" pitchFamily="2" charset="77"/>
              </a:rPr>
              <a:t>2018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AA199F0F-F6D6-4B9A-924F-49B11BC89D25}"/>
              </a:ext>
            </a:extLst>
          </p:cNvPr>
          <p:cNvSpPr txBox="1"/>
          <p:nvPr/>
        </p:nvSpPr>
        <p:spPr>
          <a:xfrm>
            <a:off x="6247616" y="3355213"/>
            <a:ext cx="17682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algn="ctr">
              <a:defRPr sz="3200">
                <a:solidFill>
                  <a:srgbClr val="E16E15"/>
                </a:solidFill>
              </a:defRPr>
            </a:lvl1pPr>
          </a:lstStyle>
          <a:p>
            <a:r>
              <a:rPr lang="de-DE"/>
              <a:t>28 Mio. €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C320D347-13A5-4786-8D51-D832C3790C64}"/>
              </a:ext>
            </a:extLst>
          </p:cNvPr>
          <p:cNvSpPr txBox="1"/>
          <p:nvPr/>
        </p:nvSpPr>
        <p:spPr>
          <a:xfrm>
            <a:off x="6339692" y="3841532"/>
            <a:ext cx="1584088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>
                <a:solidFill>
                  <a:schemeClr val="tx1">
                    <a:lumMod val="65000"/>
                    <a:lumOff val="35000"/>
                  </a:schemeClr>
                </a:solidFill>
                <a:latin typeface="Metropolis" pitchFamily="2" charset="77"/>
              </a:rPr>
              <a:t>Standortübergreifend</a:t>
            </a:r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014D98C2-2F04-4609-974B-A1CFFF05EAB9}"/>
              </a:ext>
            </a:extLst>
          </p:cNvPr>
          <p:cNvGrpSpPr/>
          <p:nvPr/>
        </p:nvGrpSpPr>
        <p:grpSpPr>
          <a:xfrm>
            <a:off x="4906404" y="1928994"/>
            <a:ext cx="914400" cy="914400"/>
            <a:chOff x="5817031" y="3254258"/>
            <a:chExt cx="914400" cy="914400"/>
          </a:xfrm>
        </p:grpSpPr>
        <p:pic>
          <p:nvPicPr>
            <p:cNvPr id="36" name="Grafik 35" descr="Flip-Kalender">
              <a:extLst>
                <a:ext uri="{FF2B5EF4-FFF2-40B4-BE49-F238E27FC236}">
                  <a16:creationId xmlns:a16="http://schemas.microsoft.com/office/drawing/2014/main" id="{9C351ACF-7ED3-461F-81A0-D2B69A3A74E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817031" y="3254258"/>
              <a:ext cx="914400" cy="914400"/>
            </a:xfrm>
            <a:prstGeom prst="rect">
              <a:avLst/>
            </a:prstGeom>
          </p:spPr>
        </p:pic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13FDF325-31E7-4794-B303-279FC6CD9F73}"/>
                </a:ext>
              </a:extLst>
            </p:cNvPr>
            <p:cNvSpPr txBox="1"/>
            <p:nvPr/>
          </p:nvSpPr>
          <p:spPr>
            <a:xfrm>
              <a:off x="6055261" y="3635745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>
                  <a:solidFill>
                    <a:schemeClr val="bg1"/>
                  </a:solidFill>
                </a:rPr>
                <a:t>26</a:t>
              </a:r>
            </a:p>
          </p:txBody>
        </p:sp>
      </p:grpSp>
      <p:sp>
        <p:nvSpPr>
          <p:cNvPr id="33" name="Textfeld 32">
            <a:extLst>
              <a:ext uri="{FF2B5EF4-FFF2-40B4-BE49-F238E27FC236}">
                <a16:creationId xmlns:a16="http://schemas.microsoft.com/office/drawing/2014/main" id="{1DAC1301-B65D-4FE1-95F4-670068A41D68}"/>
              </a:ext>
            </a:extLst>
          </p:cNvPr>
          <p:cNvSpPr txBox="1"/>
          <p:nvPr/>
        </p:nvSpPr>
        <p:spPr>
          <a:xfrm>
            <a:off x="6058365" y="1612441"/>
            <a:ext cx="2146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b="1">
                <a:solidFill>
                  <a:schemeClr val="tx2"/>
                </a:solidFill>
                <a:latin typeface="Metropolis Semi" pitchFamily="2" charset="77"/>
              </a:rPr>
              <a:t>Gründungsdatum</a:t>
            </a: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0E8C87C6-18AC-497D-9132-05A7AED435DD}"/>
              </a:ext>
            </a:extLst>
          </p:cNvPr>
          <p:cNvSpPr txBox="1"/>
          <p:nvPr/>
        </p:nvSpPr>
        <p:spPr>
          <a:xfrm>
            <a:off x="6587356" y="2036722"/>
            <a:ext cx="1088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3200">
                <a:solidFill>
                  <a:srgbClr val="E16E15"/>
                </a:solidFill>
              </a:rPr>
              <a:t>2000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5DE0A225-BD06-4BAA-8729-CE5FF7B55C3E}"/>
              </a:ext>
            </a:extLst>
          </p:cNvPr>
          <p:cNvSpPr txBox="1"/>
          <p:nvPr/>
        </p:nvSpPr>
        <p:spPr>
          <a:xfrm>
            <a:off x="6666705" y="2530899"/>
            <a:ext cx="93006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>
                <a:solidFill>
                  <a:schemeClr val="tx1">
                    <a:lumMod val="65000"/>
                    <a:lumOff val="35000"/>
                  </a:schemeClr>
                </a:solidFill>
                <a:latin typeface="Metropolis" pitchFamily="2" charset="77"/>
              </a:rPr>
              <a:t>in Hamburg</a:t>
            </a:r>
          </a:p>
        </p:txBody>
      </p:sp>
      <p:pic>
        <p:nvPicPr>
          <p:cNvPr id="39" name="Grafik 38" descr="Erdkugel Europa-Afrika">
            <a:extLst>
              <a:ext uri="{FF2B5EF4-FFF2-40B4-BE49-F238E27FC236}">
                <a16:creationId xmlns:a16="http://schemas.microsoft.com/office/drawing/2014/main" id="{CCC6239F-1A23-4419-8692-5EB5F36209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4785" y="4663817"/>
            <a:ext cx="914400" cy="914400"/>
          </a:xfrm>
          <a:prstGeom prst="rect">
            <a:avLst/>
          </a:prstGeom>
        </p:spPr>
      </p:pic>
      <p:sp>
        <p:nvSpPr>
          <p:cNvPr id="40" name="Textfeld 39">
            <a:extLst>
              <a:ext uri="{FF2B5EF4-FFF2-40B4-BE49-F238E27FC236}">
                <a16:creationId xmlns:a16="http://schemas.microsoft.com/office/drawing/2014/main" id="{C5E6BD1D-EDDC-4141-A3D7-8C3E67428E67}"/>
              </a:ext>
            </a:extLst>
          </p:cNvPr>
          <p:cNvSpPr txBox="1"/>
          <p:nvPr/>
        </p:nvSpPr>
        <p:spPr>
          <a:xfrm>
            <a:off x="2016481" y="4378684"/>
            <a:ext cx="17716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b="1">
                <a:solidFill>
                  <a:schemeClr val="tx2"/>
                </a:solidFill>
                <a:latin typeface="Metropolis Semi" pitchFamily="2" charset="77"/>
              </a:rPr>
              <a:t>Nationalitäten</a:t>
            </a:r>
          </a:p>
        </p:txBody>
      </p:sp>
      <p:sp>
        <p:nvSpPr>
          <p:cNvPr id="41" name="Textfeld 40">
            <a:extLst>
              <a:ext uri="{FF2B5EF4-FFF2-40B4-BE49-F238E27FC236}">
                <a16:creationId xmlns:a16="http://schemas.microsoft.com/office/drawing/2014/main" id="{186650F5-590D-495B-B60C-4CB31259EB03}"/>
              </a:ext>
            </a:extLst>
          </p:cNvPr>
          <p:cNvSpPr txBox="1"/>
          <p:nvPr/>
        </p:nvSpPr>
        <p:spPr>
          <a:xfrm>
            <a:off x="2583943" y="4791618"/>
            <a:ext cx="6367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3200">
                <a:solidFill>
                  <a:srgbClr val="E16E15"/>
                </a:solidFill>
              </a:rPr>
              <a:t>19</a:t>
            </a:r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10FB78ED-32BB-42FD-AC12-F5FABFDCCFFF}"/>
              </a:ext>
            </a:extLst>
          </p:cNvPr>
          <p:cNvSpPr txBox="1"/>
          <p:nvPr/>
        </p:nvSpPr>
        <p:spPr>
          <a:xfrm>
            <a:off x="1949956" y="5269229"/>
            <a:ext cx="190468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>
                <a:solidFill>
                  <a:schemeClr val="tx1">
                    <a:lumMod val="65000"/>
                    <a:lumOff val="35000"/>
                  </a:schemeClr>
                </a:solidFill>
                <a:latin typeface="Metropolis" pitchFamily="2" charset="77"/>
              </a:rPr>
              <a:t>unter unseren Mitarbeitern</a:t>
            </a:r>
          </a:p>
        </p:txBody>
      </p:sp>
      <p:pic>
        <p:nvPicPr>
          <p:cNvPr id="44" name="Grafik 43" descr="Karte mit Ortsmarkierung">
            <a:extLst>
              <a:ext uri="{FF2B5EF4-FFF2-40B4-BE49-F238E27FC236}">
                <a16:creationId xmlns:a16="http://schemas.microsoft.com/office/drawing/2014/main" id="{42BB5C2E-9A08-40E3-9576-294541EB2C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011276" y="4699472"/>
            <a:ext cx="713172" cy="713172"/>
          </a:xfrm>
          <a:prstGeom prst="rect">
            <a:avLst/>
          </a:prstGeom>
          <a:effectLst>
            <a:reflection endPos="0" dist="50800" dir="5400000" sy="-100000" algn="bl" rotWithShape="0"/>
          </a:effectLst>
        </p:spPr>
      </p:pic>
      <p:sp>
        <p:nvSpPr>
          <p:cNvPr id="46" name="Textfeld 45">
            <a:extLst>
              <a:ext uri="{FF2B5EF4-FFF2-40B4-BE49-F238E27FC236}">
                <a16:creationId xmlns:a16="http://schemas.microsoft.com/office/drawing/2014/main" id="{14673C4B-ACF4-4CBE-9DB8-FEFE29C67918}"/>
              </a:ext>
            </a:extLst>
          </p:cNvPr>
          <p:cNvSpPr txBox="1"/>
          <p:nvPr/>
        </p:nvSpPr>
        <p:spPr>
          <a:xfrm>
            <a:off x="6477551" y="4378684"/>
            <a:ext cx="13083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b="1">
                <a:solidFill>
                  <a:schemeClr val="tx2"/>
                </a:solidFill>
                <a:latin typeface="Metropolis Semi" pitchFamily="2" charset="77"/>
              </a:rPr>
              <a:t>Standorte</a:t>
            </a:r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361F3994-097D-445B-8D6C-E360F2699C57}"/>
              </a:ext>
            </a:extLst>
          </p:cNvPr>
          <p:cNvSpPr txBox="1"/>
          <p:nvPr/>
        </p:nvSpPr>
        <p:spPr>
          <a:xfrm>
            <a:off x="6926391" y="4791618"/>
            <a:ext cx="4106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algn="ctr">
              <a:defRPr sz="3200">
                <a:solidFill>
                  <a:srgbClr val="E16E15"/>
                </a:solidFill>
              </a:defRPr>
            </a:lvl1pPr>
          </a:lstStyle>
          <a:p>
            <a:r>
              <a:rPr lang="de-DE"/>
              <a:t>6</a:t>
            </a:r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EF43AD4B-9977-486A-AA1D-E2FEFE2F9575}"/>
              </a:ext>
            </a:extLst>
          </p:cNvPr>
          <p:cNvSpPr txBox="1"/>
          <p:nvPr/>
        </p:nvSpPr>
        <p:spPr>
          <a:xfrm>
            <a:off x="5822724" y="5269229"/>
            <a:ext cx="261802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>
                <a:solidFill>
                  <a:schemeClr val="tx1">
                    <a:lumMod val="65000"/>
                    <a:lumOff val="35000"/>
                  </a:schemeClr>
                </a:solidFill>
                <a:latin typeface="Metropolis" pitchFamily="2" charset="77"/>
              </a:rPr>
              <a:t>in Deutschland und den Niederlanden</a:t>
            </a:r>
          </a:p>
        </p:txBody>
      </p:sp>
      <p:sp>
        <p:nvSpPr>
          <p:cNvPr id="51" name="Titel 5">
            <a:extLst>
              <a:ext uri="{FF2B5EF4-FFF2-40B4-BE49-F238E27FC236}">
                <a16:creationId xmlns:a16="http://schemas.microsoft.com/office/drawing/2014/main" id="{5881C695-385F-4BE7-B7E9-AF2B66622C4B}"/>
              </a:ext>
            </a:extLst>
          </p:cNvPr>
          <p:cNvSpPr txBox="1">
            <a:spLocks/>
          </p:cNvSpPr>
          <p:nvPr/>
        </p:nvSpPr>
        <p:spPr>
          <a:xfrm>
            <a:off x="355393" y="836712"/>
            <a:ext cx="11501247" cy="5387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000" kern="1200" cap="all" spc="100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1600" b="1">
                <a:solidFill>
                  <a:schemeClr val="tx2"/>
                </a:solidFill>
                <a:latin typeface="Metropolis Semi" pitchFamily="2" charset="77"/>
                <a:ea typeface="+mn-ea"/>
                <a:cs typeface="+mn-cs"/>
              </a:rPr>
              <a:t>Langjährige</a:t>
            </a:r>
            <a:r>
              <a:rPr lang="de-DE" sz="1600" b="1">
                <a:latin typeface="Metropolis Semi" pitchFamily="2" charset="77"/>
              </a:rPr>
              <a:t> </a:t>
            </a:r>
            <a:r>
              <a:rPr lang="de-DE" sz="1600" b="1">
                <a:solidFill>
                  <a:schemeClr val="tx2"/>
                </a:solidFill>
                <a:latin typeface="Metropolis Semi" pitchFamily="2" charset="77"/>
                <a:ea typeface="+mn-ea"/>
                <a:cs typeface="+mn-cs"/>
              </a:rPr>
              <a:t>Erfahrung und Solide Geschäftsentwicklung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E25D078-75E9-F14E-B05A-25892346C7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err="1"/>
              <a:t>cimt</a:t>
            </a:r>
            <a:r>
              <a:rPr lang="de-DE"/>
              <a:t> - Unternehmensvorstellung</a:t>
            </a:r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B7E3077-C7C0-264D-93C4-2C69E400AB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2</a:t>
            </a:fld>
            <a:endParaRPr lang="en-US"/>
          </a:p>
        </p:txBody>
      </p:sp>
      <p:pic>
        <p:nvPicPr>
          <p:cNvPr id="54" name="Grafik 53" descr="Ein Bild, das Rad enthält.&#10;&#10;Automatisch generierte Beschreibung">
            <a:extLst>
              <a:ext uri="{FF2B5EF4-FFF2-40B4-BE49-F238E27FC236}">
                <a16:creationId xmlns:a16="http://schemas.microsoft.com/office/drawing/2014/main" id="{74595481-01A5-2D40-BD2D-60B345B008A4}"/>
              </a:ext>
            </a:extLst>
          </p:cNvPr>
          <p:cNvPicPr>
            <a:picLocks noChangeAspect="1"/>
          </p:cNvPicPr>
          <p:nvPr/>
        </p:nvPicPr>
        <p:blipFill>
          <a:blip r:embed="rId10">
            <a:alphaModFix amt="44000"/>
          </a:blip>
          <a:stretch>
            <a:fillRect/>
          </a:stretch>
        </p:blipFill>
        <p:spPr>
          <a:xfrm rot="2920040">
            <a:off x="11023215" y="4654034"/>
            <a:ext cx="713172" cy="678802"/>
          </a:xfrm>
          <a:prstGeom prst="rect">
            <a:avLst/>
          </a:prstGeom>
          <a:effectLst>
            <a:glow>
              <a:schemeClr val="bg1"/>
            </a:glow>
          </a:effectLst>
        </p:spPr>
      </p:pic>
    </p:spTree>
    <p:extLst>
      <p:ext uri="{BB962C8B-B14F-4D97-AF65-F5344CB8AC3E}">
        <p14:creationId xmlns:p14="http://schemas.microsoft.com/office/powerpoint/2010/main" val="41655066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platzhalter 7" descr="Ein Bild, das Person, drinnen, Mann, Tisch enthält.&#10;&#10;Automatisch generierte Beschreibung">
            <a:extLst>
              <a:ext uri="{FF2B5EF4-FFF2-40B4-BE49-F238E27FC236}">
                <a16:creationId xmlns:a16="http://schemas.microsoft.com/office/drawing/2014/main" id="{66F12BD2-41CF-E74E-A035-D3EFDF2A7C97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764704"/>
            <a:ext cx="12188952" cy="5706000"/>
          </a:xfr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17B28DEC-59F7-B541-A2AC-BF06AB205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3200" b="1">
                <a:solidFill>
                  <a:schemeClr val="tx1">
                    <a:lumMod val="50000"/>
                    <a:lumOff val="50000"/>
                  </a:schemeClr>
                </a:solidFill>
                <a:latin typeface="Metropolis" pitchFamily="2" charset="77"/>
              </a:rPr>
              <a:t>WARUM CIMT DER RICHTIGE PARTNER IST!</a:t>
            </a:r>
            <a:endParaRPr lang="de-DE" sz="3100">
              <a:latin typeface="Metropolis" pitchFamily="2" charset="77"/>
            </a:endParaRP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3C95F71-9364-6743-993A-155C1055E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err="1"/>
              <a:t>cimt</a:t>
            </a:r>
            <a:r>
              <a:rPr lang="de-DE"/>
              <a:t> - Unternehmensvorstellung</a:t>
            </a:r>
            <a:endParaRPr lang="en-US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94E1A1A-6110-2B40-9B82-2793F87F6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8D787D85-47A5-4C44-83CF-A79E2E27E032}"/>
              </a:ext>
            </a:extLst>
          </p:cNvPr>
          <p:cNvSpPr/>
          <p:nvPr/>
        </p:nvSpPr>
        <p:spPr>
          <a:xfrm>
            <a:off x="5835192" y="1271101"/>
            <a:ext cx="5805424" cy="481191"/>
          </a:xfrm>
          <a:prstGeom prst="rect">
            <a:avLst/>
          </a:prstGeom>
          <a:solidFill>
            <a:srgbClr val="A8A3A3">
              <a:alpha val="70000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>
                <a:latin typeface="Metropolis Thin" pitchFamily="2" charset="77"/>
              </a:rPr>
              <a:t>Hervorragende und umfassende Qualifikation 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856BA6F0-ADA7-6F4E-BEF8-5FC041FEB7A6}"/>
              </a:ext>
            </a:extLst>
          </p:cNvPr>
          <p:cNvSpPr/>
          <p:nvPr/>
        </p:nvSpPr>
        <p:spPr>
          <a:xfrm>
            <a:off x="767408" y="3870903"/>
            <a:ext cx="3240360" cy="481191"/>
          </a:xfrm>
          <a:prstGeom prst="rect">
            <a:avLst/>
          </a:prstGeom>
          <a:solidFill>
            <a:srgbClr val="A8A3A3">
              <a:alpha val="70000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>
                <a:latin typeface="Metropolis Thin" pitchFamily="2" charset="77"/>
              </a:rPr>
              <a:t>Hohe Mitarbeiterbindung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B096A568-D1F0-6B40-8381-862BADF9C207}"/>
              </a:ext>
            </a:extLst>
          </p:cNvPr>
          <p:cNvSpPr/>
          <p:nvPr/>
        </p:nvSpPr>
        <p:spPr>
          <a:xfrm>
            <a:off x="6528048" y="5215996"/>
            <a:ext cx="3240360" cy="481191"/>
          </a:xfrm>
          <a:prstGeom prst="rect">
            <a:avLst/>
          </a:prstGeom>
          <a:solidFill>
            <a:srgbClr val="A8A3A3">
              <a:alpha val="70000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>
                <a:latin typeface="Metropolis Thin" pitchFamily="2" charset="77"/>
              </a:rPr>
              <a:t>Innovativ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4F55FEB0-0B2B-DA4C-8895-8F5A1CF20B8B}"/>
              </a:ext>
            </a:extLst>
          </p:cNvPr>
          <p:cNvSpPr/>
          <p:nvPr/>
        </p:nvSpPr>
        <p:spPr>
          <a:xfrm>
            <a:off x="1415480" y="5092341"/>
            <a:ext cx="3960440" cy="711320"/>
          </a:xfrm>
          <a:prstGeom prst="rect">
            <a:avLst/>
          </a:prstGeom>
          <a:solidFill>
            <a:srgbClr val="A8A3A3">
              <a:alpha val="70000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>
                <a:latin typeface="Metropolis Thin" pitchFamily="2" charset="77"/>
              </a:rPr>
              <a:t>Unternehmerisch eigenständig und engagiert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9459C5FC-E794-7443-86EC-B8D7C8C4CEAE}"/>
              </a:ext>
            </a:extLst>
          </p:cNvPr>
          <p:cNvSpPr/>
          <p:nvPr/>
        </p:nvSpPr>
        <p:spPr>
          <a:xfrm>
            <a:off x="1961008" y="2645217"/>
            <a:ext cx="3240360" cy="711320"/>
          </a:xfrm>
          <a:prstGeom prst="rect">
            <a:avLst/>
          </a:prstGeom>
          <a:solidFill>
            <a:srgbClr val="A8A3A3">
              <a:alpha val="70000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>
                <a:latin typeface="Metropolis Thin" pitchFamily="2" charset="77"/>
              </a:rPr>
              <a:t>Exzellente Themen- und Branchenkompetenz  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149CAC1D-6D8E-5A4C-8365-76D2B435440C}"/>
              </a:ext>
            </a:extLst>
          </p:cNvPr>
          <p:cNvSpPr/>
          <p:nvPr/>
        </p:nvSpPr>
        <p:spPr>
          <a:xfrm>
            <a:off x="561310" y="1068119"/>
            <a:ext cx="3806498" cy="711320"/>
          </a:xfrm>
          <a:prstGeom prst="rect">
            <a:avLst/>
          </a:prstGeom>
          <a:solidFill>
            <a:srgbClr val="A8A3A3">
              <a:alpha val="70000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>
                <a:latin typeface="Metropolis Thin" pitchFamily="2" charset="77"/>
              </a:rPr>
              <a:t>Enge Zusammenarbeit mit SAP &amp; weiteren Partner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162A5739-6611-4A15-9E22-6634AA40A282}"/>
              </a:ext>
            </a:extLst>
          </p:cNvPr>
          <p:cNvSpPr/>
          <p:nvPr/>
        </p:nvSpPr>
        <p:spPr>
          <a:xfrm>
            <a:off x="8030504" y="3277270"/>
            <a:ext cx="3240360" cy="481191"/>
          </a:xfrm>
          <a:prstGeom prst="rect">
            <a:avLst/>
          </a:prstGeom>
          <a:solidFill>
            <a:srgbClr val="A8A3A3">
              <a:alpha val="70000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>
                <a:latin typeface="Metropolis Thin" pitchFamily="2" charset="77"/>
              </a:rPr>
              <a:t>Pragmatisch</a:t>
            </a:r>
          </a:p>
        </p:txBody>
      </p:sp>
    </p:spTree>
    <p:extLst>
      <p:ext uri="{BB962C8B-B14F-4D97-AF65-F5344CB8AC3E}">
        <p14:creationId xmlns:p14="http://schemas.microsoft.com/office/powerpoint/2010/main" val="14693009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Bildplatzhalter 8" descr="Ein Bild, das Gebäude, Straße, Zug, Spur enthält.&#10;&#10;Automatisch generierte Beschreibung">
            <a:extLst>
              <a:ext uri="{FF2B5EF4-FFF2-40B4-BE49-F238E27FC236}">
                <a16:creationId xmlns:a16="http://schemas.microsoft.com/office/drawing/2014/main" id="{08DBFC5B-089B-BF40-B744-B1FB821E21C2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768188"/>
            <a:ext cx="12188952" cy="5706000"/>
          </a:xfr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17B28DEC-59F7-B541-A2AC-BF06AB205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3200" b="1">
                <a:solidFill>
                  <a:schemeClr val="tx1">
                    <a:lumMod val="50000"/>
                    <a:lumOff val="50000"/>
                  </a:schemeClr>
                </a:solidFill>
                <a:latin typeface="Metropolis" pitchFamily="2" charset="77"/>
              </a:rPr>
              <a:t>Die Themen der CIMT</a:t>
            </a:r>
            <a:endParaRPr lang="de-DE" sz="3100">
              <a:latin typeface="Metropolis" pitchFamily="2" charset="77"/>
            </a:endParaRP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3C95F71-9364-6743-993A-155C1055E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err="1"/>
              <a:t>cimt</a:t>
            </a:r>
            <a:r>
              <a:rPr lang="de-DE"/>
              <a:t> - Unternehmensvorstellung</a:t>
            </a:r>
            <a:endParaRPr lang="en-US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94E1A1A-6110-2B40-9B82-2793F87F6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9C637E12-780B-F143-A6C7-E3B40A7CE9F8}"/>
              </a:ext>
            </a:extLst>
          </p:cNvPr>
          <p:cNvSpPr txBox="1"/>
          <p:nvPr/>
        </p:nvSpPr>
        <p:spPr>
          <a:xfrm>
            <a:off x="5460070" y="3347813"/>
            <a:ext cx="12763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b="1">
                <a:solidFill>
                  <a:schemeClr val="bg1"/>
                </a:solidFill>
                <a:latin typeface="Metropolis Semi" pitchFamily="2" charset="77"/>
              </a:rPr>
              <a:t>BUILD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77829107-3E7E-5641-A2A0-9A6612B16967}"/>
              </a:ext>
            </a:extLst>
          </p:cNvPr>
          <p:cNvSpPr txBox="1"/>
          <p:nvPr/>
        </p:nvSpPr>
        <p:spPr>
          <a:xfrm>
            <a:off x="5512969" y="2802910"/>
            <a:ext cx="1170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b="1">
                <a:solidFill>
                  <a:schemeClr val="bg1"/>
                </a:solidFill>
                <a:latin typeface="Metropolis Semi" pitchFamily="2" charset="77"/>
              </a:rPr>
              <a:t>PLAN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13EB8ECA-A34A-FB43-B24B-124DB9048500}"/>
              </a:ext>
            </a:extLst>
          </p:cNvPr>
          <p:cNvSpPr txBox="1"/>
          <p:nvPr/>
        </p:nvSpPr>
        <p:spPr>
          <a:xfrm>
            <a:off x="5612355" y="3892717"/>
            <a:ext cx="9717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b="1">
                <a:solidFill>
                  <a:schemeClr val="bg1"/>
                </a:solidFill>
                <a:latin typeface="Metropolis Semi" pitchFamily="2" charset="77"/>
              </a:rPr>
              <a:t>RUN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BB158896-505E-3745-90E6-5916B884EB34}"/>
              </a:ext>
            </a:extLst>
          </p:cNvPr>
          <p:cNvPicPr>
            <a:picLocks noChangeAspect="1"/>
          </p:cNvPicPr>
          <p:nvPr/>
        </p:nvPicPr>
        <p:blipFill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25356" y="3931947"/>
            <a:ext cx="475212" cy="475212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907354C6-B313-E644-8BC8-00C2EDB44080}"/>
              </a:ext>
            </a:extLst>
          </p:cNvPr>
          <p:cNvPicPr>
            <a:picLocks noChangeAspect="1"/>
          </p:cNvPicPr>
          <p:nvPr/>
        </p:nvPicPr>
        <p:blipFill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74201" y="3901877"/>
            <a:ext cx="542920" cy="54292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A9358D05-7D29-6940-BD3D-5284CC0C2FDC}"/>
              </a:ext>
            </a:extLst>
          </p:cNvPr>
          <p:cNvPicPr>
            <a:picLocks noChangeAspect="1"/>
          </p:cNvPicPr>
          <p:nvPr/>
        </p:nvPicPr>
        <p:blipFill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13100" y="578862"/>
            <a:ext cx="84575" cy="84575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77E8DA0D-AF84-1D44-92D4-5E78CDF93F90}"/>
              </a:ext>
            </a:extLst>
          </p:cNvPr>
          <p:cNvPicPr>
            <a:picLocks noChangeAspect="1"/>
          </p:cNvPicPr>
          <p:nvPr/>
        </p:nvPicPr>
        <p:blipFill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485400" y="1354641"/>
            <a:ext cx="594945" cy="594945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6F533030-C034-0F41-B9E4-FF91CD1BACB0}"/>
              </a:ext>
            </a:extLst>
          </p:cNvPr>
          <p:cNvPicPr>
            <a:picLocks noChangeAspect="1"/>
          </p:cNvPicPr>
          <p:nvPr/>
        </p:nvPicPr>
        <p:blipFill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484398" y="2577480"/>
            <a:ext cx="538734" cy="538734"/>
          </a:xfrm>
          <a:prstGeom prst="rect">
            <a:avLst/>
          </a:prstGeom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E04E06B8-0C84-0B46-88D0-3252170AC3D7}"/>
              </a:ext>
            </a:extLst>
          </p:cNvPr>
          <p:cNvPicPr>
            <a:picLocks noChangeAspect="1"/>
          </p:cNvPicPr>
          <p:nvPr/>
        </p:nvPicPr>
        <p:blipFill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521402" y="5296910"/>
            <a:ext cx="479166" cy="479166"/>
          </a:xfrm>
          <a:prstGeom prst="rect">
            <a:avLst/>
          </a:prstGeom>
        </p:spPr>
      </p:pic>
      <p:pic>
        <p:nvPicPr>
          <p:cNvPr id="31" name="Grafik 30">
            <a:extLst>
              <a:ext uri="{FF2B5EF4-FFF2-40B4-BE49-F238E27FC236}">
                <a16:creationId xmlns:a16="http://schemas.microsoft.com/office/drawing/2014/main" id="{3212F5CE-025B-7C4E-B059-299554F523D4}"/>
              </a:ext>
            </a:extLst>
          </p:cNvPr>
          <p:cNvPicPr>
            <a:picLocks noChangeAspect="1"/>
          </p:cNvPicPr>
          <p:nvPr/>
        </p:nvPicPr>
        <p:blipFill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302000" y="1125844"/>
            <a:ext cx="48694" cy="48694"/>
          </a:xfrm>
          <a:prstGeom prst="rect">
            <a:avLst/>
          </a:prstGeom>
        </p:spPr>
      </p:pic>
      <p:pic>
        <p:nvPicPr>
          <p:cNvPr id="34" name="Grafik 33">
            <a:extLst>
              <a:ext uri="{FF2B5EF4-FFF2-40B4-BE49-F238E27FC236}">
                <a16:creationId xmlns:a16="http://schemas.microsoft.com/office/drawing/2014/main" id="{709EA5D9-3AFE-BC43-A5C5-60009EE85636}"/>
              </a:ext>
            </a:extLst>
          </p:cNvPr>
          <p:cNvPicPr>
            <a:picLocks noChangeAspect="1"/>
          </p:cNvPicPr>
          <p:nvPr/>
        </p:nvPicPr>
        <p:blipFill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054906" y="1354641"/>
            <a:ext cx="581510" cy="581510"/>
          </a:xfrm>
          <a:prstGeom prst="rect">
            <a:avLst/>
          </a:prstGeom>
        </p:spPr>
      </p:pic>
      <p:pic>
        <p:nvPicPr>
          <p:cNvPr id="36" name="Grafik 35">
            <a:extLst>
              <a:ext uri="{FF2B5EF4-FFF2-40B4-BE49-F238E27FC236}">
                <a16:creationId xmlns:a16="http://schemas.microsoft.com/office/drawing/2014/main" id="{B4F8E7CC-B00E-1748-806C-DF9E6C9AD0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20600" y="2603392"/>
            <a:ext cx="457727" cy="457727"/>
          </a:xfrm>
          <a:prstGeom prst="rect">
            <a:avLst/>
          </a:prstGeom>
        </p:spPr>
      </p:pic>
      <p:pic>
        <p:nvPicPr>
          <p:cNvPr id="38" name="Grafik 37">
            <a:extLst>
              <a:ext uri="{FF2B5EF4-FFF2-40B4-BE49-F238E27FC236}">
                <a16:creationId xmlns:a16="http://schemas.microsoft.com/office/drawing/2014/main" id="{190892F4-0BCD-AC42-AD0B-1714CAD97D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120600" y="5268345"/>
            <a:ext cx="457727" cy="457727"/>
          </a:xfrm>
          <a:prstGeom prst="rect">
            <a:avLst/>
          </a:prstGeom>
        </p:spPr>
      </p:pic>
      <p:sp>
        <p:nvSpPr>
          <p:cNvPr id="39" name="Rechteck 38">
            <a:extLst>
              <a:ext uri="{FF2B5EF4-FFF2-40B4-BE49-F238E27FC236}">
                <a16:creationId xmlns:a16="http://schemas.microsoft.com/office/drawing/2014/main" id="{77237177-6247-7141-BEA6-E3A96BB722D6}"/>
              </a:ext>
            </a:extLst>
          </p:cNvPr>
          <p:cNvSpPr/>
          <p:nvPr/>
        </p:nvSpPr>
        <p:spPr>
          <a:xfrm>
            <a:off x="8967970" y="1340768"/>
            <a:ext cx="2090669" cy="538734"/>
          </a:xfrm>
          <a:prstGeom prst="rect">
            <a:avLst/>
          </a:prstGeom>
          <a:solidFill>
            <a:srgbClr val="A8A3A3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latin typeface="Metropolis Medium" pitchFamily="2" charset="77"/>
              </a:rPr>
              <a:t>ARCHITEKTUR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9BEDB86C-802D-944A-9790-5B992CAC75F6}"/>
              </a:ext>
            </a:extLst>
          </p:cNvPr>
          <p:cNvSpPr/>
          <p:nvPr/>
        </p:nvSpPr>
        <p:spPr>
          <a:xfrm>
            <a:off x="8967970" y="2629224"/>
            <a:ext cx="2090669" cy="538734"/>
          </a:xfrm>
          <a:prstGeom prst="rect">
            <a:avLst/>
          </a:prstGeom>
          <a:solidFill>
            <a:srgbClr val="A8A3A3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latin typeface="Metropolis Medium" pitchFamily="2" charset="77"/>
              </a:rPr>
              <a:t>ENTERPRISE</a:t>
            </a:r>
            <a:br>
              <a:rPr lang="de-DE" sz="1600">
                <a:latin typeface="Metropolis Medium" pitchFamily="2" charset="77"/>
              </a:rPr>
            </a:br>
            <a:r>
              <a:rPr lang="de-DE" sz="1600">
                <a:latin typeface="Metropolis Medium" pitchFamily="2" charset="77"/>
              </a:rPr>
              <a:t>INTEGRATION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46BFC399-FC1B-C142-9F92-E772A914B5EF}"/>
              </a:ext>
            </a:extLst>
          </p:cNvPr>
          <p:cNvSpPr/>
          <p:nvPr/>
        </p:nvSpPr>
        <p:spPr>
          <a:xfrm>
            <a:off x="8967970" y="3917680"/>
            <a:ext cx="2090669" cy="538734"/>
          </a:xfrm>
          <a:prstGeom prst="rect">
            <a:avLst/>
          </a:prstGeom>
          <a:solidFill>
            <a:srgbClr val="A8A3A3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latin typeface="Metropolis Medium" pitchFamily="2" charset="77"/>
              </a:rPr>
              <a:t>APPLICATION</a:t>
            </a:r>
            <a:br>
              <a:rPr lang="de-DE" sz="1600">
                <a:latin typeface="Metropolis Medium" pitchFamily="2" charset="77"/>
              </a:rPr>
            </a:br>
            <a:r>
              <a:rPr lang="de-DE" sz="1600">
                <a:latin typeface="Metropolis Medium" pitchFamily="2" charset="77"/>
              </a:rPr>
              <a:t>MANAGEMENT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ABD1F716-354E-2A45-9103-F789CC107721}"/>
              </a:ext>
            </a:extLst>
          </p:cNvPr>
          <p:cNvSpPr/>
          <p:nvPr/>
        </p:nvSpPr>
        <p:spPr>
          <a:xfrm>
            <a:off x="8967970" y="5206136"/>
            <a:ext cx="2090669" cy="538734"/>
          </a:xfrm>
          <a:prstGeom prst="rect">
            <a:avLst/>
          </a:prstGeom>
          <a:solidFill>
            <a:srgbClr val="A8A3A3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latin typeface="Metropolis Medium" pitchFamily="2" charset="77"/>
              </a:rPr>
              <a:t>CUSTOM</a:t>
            </a:r>
            <a:br>
              <a:rPr lang="de-DE" sz="1600">
                <a:latin typeface="Metropolis Medium" pitchFamily="2" charset="77"/>
              </a:rPr>
            </a:br>
            <a:r>
              <a:rPr lang="de-DE" sz="1600">
                <a:latin typeface="Metropolis Medium" pitchFamily="2" charset="77"/>
              </a:rPr>
              <a:t>DEVELOPMENT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7EC39D92-1DA9-7843-99AC-492C29964546}"/>
              </a:ext>
            </a:extLst>
          </p:cNvPr>
          <p:cNvSpPr/>
          <p:nvPr/>
        </p:nvSpPr>
        <p:spPr>
          <a:xfrm>
            <a:off x="1033197" y="1340768"/>
            <a:ext cx="2090669" cy="538734"/>
          </a:xfrm>
          <a:prstGeom prst="rect">
            <a:avLst/>
          </a:prstGeom>
          <a:solidFill>
            <a:srgbClr val="A8A3A3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latin typeface="Metropolis Medium" pitchFamily="2" charset="77"/>
              </a:rPr>
              <a:t>PROGRAMM</a:t>
            </a:r>
          </a:p>
          <a:p>
            <a:pPr algn="ctr"/>
            <a:r>
              <a:rPr lang="de-DE" sz="1600">
                <a:latin typeface="Metropolis Medium" pitchFamily="2" charset="77"/>
              </a:rPr>
              <a:t>MANAGEMENT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D508C6CB-075C-D84F-8C85-E9EF9AAD286D}"/>
              </a:ext>
            </a:extLst>
          </p:cNvPr>
          <p:cNvSpPr/>
          <p:nvPr/>
        </p:nvSpPr>
        <p:spPr>
          <a:xfrm>
            <a:off x="1033197" y="2624301"/>
            <a:ext cx="2090669" cy="538734"/>
          </a:xfrm>
          <a:prstGeom prst="rect">
            <a:avLst/>
          </a:prstGeom>
          <a:solidFill>
            <a:srgbClr val="A8A3A3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latin typeface="Metropolis Medium" pitchFamily="2" charset="77"/>
              </a:rPr>
              <a:t>PROJEKT</a:t>
            </a:r>
          </a:p>
          <a:p>
            <a:pPr algn="ctr"/>
            <a:r>
              <a:rPr lang="de-DE" sz="1600">
                <a:latin typeface="Metropolis Medium" pitchFamily="2" charset="77"/>
              </a:rPr>
              <a:t>MANAGEMENT</a:t>
            </a: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D2CC167C-0871-9D4C-A492-1F6C5395D45C}"/>
              </a:ext>
            </a:extLst>
          </p:cNvPr>
          <p:cNvSpPr/>
          <p:nvPr/>
        </p:nvSpPr>
        <p:spPr>
          <a:xfrm>
            <a:off x="1033197" y="3907834"/>
            <a:ext cx="2090669" cy="538734"/>
          </a:xfrm>
          <a:prstGeom prst="rect">
            <a:avLst/>
          </a:prstGeom>
          <a:solidFill>
            <a:srgbClr val="A8A3A3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latin typeface="Metropolis Medium" pitchFamily="2" charset="77"/>
              </a:rPr>
              <a:t>CHANGE</a:t>
            </a:r>
          </a:p>
          <a:p>
            <a:pPr algn="ctr"/>
            <a:r>
              <a:rPr lang="de-DE" sz="1600">
                <a:latin typeface="Metropolis Medium" pitchFamily="2" charset="77"/>
              </a:rPr>
              <a:t>MANAGEMENT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1C552100-7FD5-CF4A-A9F7-EE13625CA4AC}"/>
              </a:ext>
            </a:extLst>
          </p:cNvPr>
          <p:cNvSpPr/>
          <p:nvPr/>
        </p:nvSpPr>
        <p:spPr>
          <a:xfrm>
            <a:off x="1033197" y="5191366"/>
            <a:ext cx="2090669" cy="538734"/>
          </a:xfrm>
          <a:prstGeom prst="rect">
            <a:avLst/>
          </a:prstGeom>
          <a:solidFill>
            <a:srgbClr val="A8A3A3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latin typeface="Metropolis Medium" pitchFamily="2" charset="77"/>
              </a:rPr>
              <a:t>QUALITÄTS</a:t>
            </a:r>
          </a:p>
          <a:p>
            <a:pPr algn="ctr"/>
            <a:r>
              <a:rPr lang="de-DE" sz="1600">
                <a:latin typeface="Metropolis Medium" pitchFamily="2" charset="77"/>
              </a:rPr>
              <a:t>MANAGEMENT</a:t>
            </a:r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614770AF-7CD7-A247-A2A5-0AE46E2A92CC}"/>
              </a:ext>
            </a:extLst>
          </p:cNvPr>
          <p:cNvSpPr txBox="1"/>
          <p:nvPr/>
        </p:nvSpPr>
        <p:spPr>
          <a:xfrm>
            <a:off x="2400117" y="836712"/>
            <a:ext cx="7391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>
                <a:solidFill>
                  <a:schemeClr val="bg1"/>
                </a:solidFill>
                <a:latin typeface="Metropolis Semi" pitchFamily="2" charset="77"/>
              </a:rPr>
              <a:t>WIR DECKEN DEN GESAMTEN SOFTWARE LEBENSZYKLUS AB </a:t>
            </a:r>
          </a:p>
        </p:txBody>
      </p:sp>
    </p:spTree>
    <p:extLst>
      <p:ext uri="{BB962C8B-B14F-4D97-AF65-F5344CB8AC3E}">
        <p14:creationId xmlns:p14="http://schemas.microsoft.com/office/powerpoint/2010/main" val="37132403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Bildplatzhalter 13">
            <a:extLst>
              <a:ext uri="{FF2B5EF4-FFF2-40B4-BE49-F238E27FC236}">
                <a16:creationId xmlns:a16="http://schemas.microsoft.com/office/drawing/2014/main" id="{CAB4818F-1820-C641-873F-45AFEF047EFA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70" b="70"/>
          <a:stretch>
            <a:fillRect/>
          </a:stretch>
        </p:blipFill>
        <p:spPr/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17B28DEC-59F7-B541-A2AC-BF06AB205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3200" b="1">
                <a:solidFill>
                  <a:schemeClr val="tx1">
                    <a:lumMod val="50000"/>
                    <a:lumOff val="50000"/>
                  </a:schemeClr>
                </a:solidFill>
                <a:latin typeface="Metropolis" pitchFamily="2" charset="77"/>
              </a:rPr>
              <a:t>Cimt SAP-EXPERTISE</a:t>
            </a:r>
            <a:endParaRPr lang="de-DE" sz="3100">
              <a:latin typeface="Metropolis" pitchFamily="2" charset="77"/>
            </a:endParaRP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3C95F71-9364-6743-993A-155C1055E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err="1"/>
              <a:t>cimt</a:t>
            </a:r>
            <a:r>
              <a:rPr lang="de-DE"/>
              <a:t> - Unternehmensvorstellung</a:t>
            </a:r>
            <a:endParaRPr lang="en-US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94E1A1A-6110-2B40-9B82-2793F87F6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8D787D85-47A5-4C44-83CF-A79E2E27E032}"/>
              </a:ext>
            </a:extLst>
          </p:cNvPr>
          <p:cNvSpPr/>
          <p:nvPr/>
        </p:nvSpPr>
        <p:spPr>
          <a:xfrm>
            <a:off x="2088671" y="2846354"/>
            <a:ext cx="8014658" cy="481191"/>
          </a:xfrm>
          <a:prstGeom prst="rect">
            <a:avLst/>
          </a:prstGeom>
          <a:solidFill>
            <a:srgbClr val="A8A3A3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latin typeface="Metropolis Thin" pitchFamily="2" charset="77"/>
              </a:rPr>
              <a:t>Seit 20 Jahren Spezialist für SAP-Beratung 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E4F8A9F1-0F7B-A84C-A840-3EE7CD63150D}"/>
              </a:ext>
            </a:extLst>
          </p:cNvPr>
          <p:cNvSpPr/>
          <p:nvPr/>
        </p:nvSpPr>
        <p:spPr>
          <a:xfrm>
            <a:off x="874329" y="3519790"/>
            <a:ext cx="10443342" cy="481191"/>
          </a:xfrm>
          <a:prstGeom prst="rect">
            <a:avLst/>
          </a:prstGeom>
          <a:solidFill>
            <a:srgbClr val="A8A3A3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latin typeface="Metropolis Thin" pitchFamily="2" charset="77"/>
              </a:rPr>
              <a:t>Große Erfahrung in Fokusthemen und Schlüsselbranchen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532BF5B2-1A0B-F545-B9AC-513ED6329233}"/>
              </a:ext>
            </a:extLst>
          </p:cNvPr>
          <p:cNvSpPr/>
          <p:nvPr/>
        </p:nvSpPr>
        <p:spPr>
          <a:xfrm>
            <a:off x="2746537" y="4193226"/>
            <a:ext cx="6698926" cy="481191"/>
          </a:xfrm>
          <a:prstGeom prst="rect">
            <a:avLst/>
          </a:prstGeom>
          <a:solidFill>
            <a:srgbClr val="A8A3A3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latin typeface="Metropolis Thin" pitchFamily="2" charset="77"/>
              </a:rPr>
              <a:t>SAP-Partner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1F115555-8814-1E4D-AB1A-23C4CB7C7C22}"/>
              </a:ext>
            </a:extLst>
          </p:cNvPr>
          <p:cNvSpPr/>
          <p:nvPr/>
        </p:nvSpPr>
        <p:spPr>
          <a:xfrm>
            <a:off x="2344320" y="4866662"/>
            <a:ext cx="7503360" cy="481191"/>
          </a:xfrm>
          <a:prstGeom prst="rect">
            <a:avLst/>
          </a:prstGeom>
          <a:solidFill>
            <a:srgbClr val="A8A3A3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latin typeface="Metropolis Thin" pitchFamily="2" charset="77"/>
              </a:rPr>
              <a:t>Entwicklungs- und Service-Partnerschaft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EA78C185-8B99-2D4B-89B5-D2DD9CFDAA4D}"/>
              </a:ext>
            </a:extLst>
          </p:cNvPr>
          <p:cNvSpPr/>
          <p:nvPr/>
        </p:nvSpPr>
        <p:spPr>
          <a:xfrm>
            <a:off x="2270246" y="5540097"/>
            <a:ext cx="7651509" cy="481191"/>
          </a:xfrm>
          <a:prstGeom prst="rect">
            <a:avLst/>
          </a:prstGeom>
          <a:solidFill>
            <a:srgbClr val="A8A3A3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latin typeface="Metropolis Thin" pitchFamily="2" charset="77"/>
              </a:rPr>
              <a:t>International aktiv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799BCBF6-B510-564D-9C60-BE0B8D1A0621}"/>
              </a:ext>
            </a:extLst>
          </p:cNvPr>
          <p:cNvSpPr txBox="1"/>
          <p:nvPr/>
        </p:nvSpPr>
        <p:spPr>
          <a:xfrm>
            <a:off x="2607705" y="1749840"/>
            <a:ext cx="58739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>
                <a:solidFill>
                  <a:schemeClr val="bg1">
                    <a:lumMod val="65000"/>
                  </a:schemeClr>
                </a:solidFill>
                <a:latin typeface="Metropolis Thin" pitchFamily="2" charset="77"/>
              </a:rPr>
              <a:t>Umfassendes und fundiertes SAP-Know-how  </a:t>
            </a:r>
          </a:p>
        </p:txBody>
      </p:sp>
    </p:spTree>
    <p:extLst>
      <p:ext uri="{BB962C8B-B14F-4D97-AF65-F5344CB8AC3E}">
        <p14:creationId xmlns:p14="http://schemas.microsoft.com/office/powerpoint/2010/main" val="27839693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Bildplatzhalter 16" descr="Ein Bild, das Straße, Szene, Zug, Spur enthält.&#10;&#10;Automatisch generierte Beschreibung">
            <a:extLst>
              <a:ext uri="{FF2B5EF4-FFF2-40B4-BE49-F238E27FC236}">
                <a16:creationId xmlns:a16="http://schemas.microsoft.com/office/drawing/2014/main" id="{B3C594BC-5306-F144-8567-7138D77187E9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765175"/>
            <a:ext cx="12188825" cy="5705475"/>
          </a:xfr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17B28DEC-59F7-B541-A2AC-BF06AB205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3100" b="1" err="1">
                <a:solidFill>
                  <a:schemeClr val="tx1">
                    <a:lumMod val="50000"/>
                    <a:lumOff val="50000"/>
                  </a:schemeClr>
                </a:solidFill>
                <a:latin typeface="Metropolis" pitchFamily="2" charset="77"/>
              </a:rPr>
              <a:t>UnserE</a:t>
            </a:r>
            <a:r>
              <a:rPr lang="de-DE" sz="3100" b="1">
                <a:solidFill>
                  <a:schemeClr val="tx1">
                    <a:lumMod val="50000"/>
                    <a:lumOff val="50000"/>
                  </a:schemeClr>
                </a:solidFill>
                <a:latin typeface="Metropolis" pitchFamily="2" charset="77"/>
              </a:rPr>
              <a:t> FOKUSTHEMEN</a:t>
            </a:r>
            <a:endParaRPr lang="de-DE" sz="3100">
              <a:latin typeface="Metropolis" pitchFamily="2" charset="77"/>
            </a:endParaRP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3C95F71-9364-6743-993A-155C1055E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err="1"/>
              <a:t>cimt</a:t>
            </a:r>
            <a:r>
              <a:rPr lang="de-DE"/>
              <a:t> - Unternehmensvorstellung</a:t>
            </a:r>
            <a:endParaRPr lang="en-US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94E1A1A-6110-2B40-9B82-2793F87F6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B419B35-23D4-EC4B-A1B3-E9D7B31B363D}"/>
              </a:ext>
            </a:extLst>
          </p:cNvPr>
          <p:cNvSpPr/>
          <p:nvPr/>
        </p:nvSpPr>
        <p:spPr>
          <a:xfrm>
            <a:off x="2135560" y="930695"/>
            <a:ext cx="7902878" cy="557927"/>
          </a:xfrm>
          <a:prstGeom prst="rect">
            <a:avLst/>
          </a:prstGeom>
          <a:solidFill>
            <a:srgbClr val="A8A3A3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800">
                <a:latin typeface="Metropolis" pitchFamily="2" charset="77"/>
              </a:rPr>
              <a:t>WIR SIND IN „TOP-THEMEN“ UNTERWEGS! 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8D787D85-47A5-4C44-83CF-A79E2E27E032}"/>
              </a:ext>
            </a:extLst>
          </p:cNvPr>
          <p:cNvSpPr/>
          <p:nvPr/>
        </p:nvSpPr>
        <p:spPr>
          <a:xfrm>
            <a:off x="4439816" y="1681322"/>
            <a:ext cx="3240360" cy="481191"/>
          </a:xfrm>
          <a:prstGeom prst="rect">
            <a:avLst/>
          </a:prstGeom>
          <a:solidFill>
            <a:srgbClr val="A8A3A3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latin typeface="Metropolis" pitchFamily="2" charset="77"/>
              </a:rPr>
              <a:t>TRANSFORMATION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0E7100DD-950C-C848-A766-AE5405404E0E}"/>
              </a:ext>
            </a:extLst>
          </p:cNvPr>
          <p:cNvSpPr/>
          <p:nvPr/>
        </p:nvSpPr>
        <p:spPr>
          <a:xfrm>
            <a:off x="1044187" y="3188404"/>
            <a:ext cx="3922924" cy="481191"/>
          </a:xfrm>
          <a:prstGeom prst="rect">
            <a:avLst/>
          </a:prstGeom>
          <a:solidFill>
            <a:srgbClr val="A8A3A3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latin typeface="Metropolis" pitchFamily="2" charset="77"/>
              </a:rPr>
              <a:t>BUSINESS INTELLIGENCE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E47DEBEA-FB43-8349-AC75-2BB2DA246914}"/>
              </a:ext>
            </a:extLst>
          </p:cNvPr>
          <p:cNvSpPr/>
          <p:nvPr/>
        </p:nvSpPr>
        <p:spPr>
          <a:xfrm>
            <a:off x="7038629" y="2827511"/>
            <a:ext cx="2962622" cy="481191"/>
          </a:xfrm>
          <a:prstGeom prst="rect">
            <a:avLst/>
          </a:prstGeom>
          <a:solidFill>
            <a:srgbClr val="A8A3A3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latin typeface="Metropolis" pitchFamily="2" charset="77"/>
              </a:rPr>
              <a:t>USER EXPERIENCE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EA0E0C48-15CA-074B-8F5A-E35D43B8C1E4}"/>
              </a:ext>
            </a:extLst>
          </p:cNvPr>
          <p:cNvSpPr/>
          <p:nvPr/>
        </p:nvSpPr>
        <p:spPr>
          <a:xfrm>
            <a:off x="7320136" y="4695486"/>
            <a:ext cx="3410057" cy="481191"/>
          </a:xfrm>
          <a:prstGeom prst="rect">
            <a:avLst/>
          </a:prstGeom>
          <a:solidFill>
            <a:srgbClr val="A8A3A3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latin typeface="Metropolis" pitchFamily="2" charset="77"/>
              </a:rPr>
              <a:t>HANDELSLÖSUNGEN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24D857DB-4DD6-6E4B-9DD4-A0396B8A039D}"/>
              </a:ext>
            </a:extLst>
          </p:cNvPr>
          <p:cNvSpPr/>
          <p:nvPr/>
        </p:nvSpPr>
        <p:spPr>
          <a:xfrm>
            <a:off x="479376" y="4936082"/>
            <a:ext cx="4680520" cy="481191"/>
          </a:xfrm>
          <a:prstGeom prst="rect">
            <a:avLst/>
          </a:prstGeom>
          <a:solidFill>
            <a:srgbClr val="A8A3A3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latin typeface="Metropolis" pitchFamily="2" charset="77"/>
              </a:rPr>
              <a:t>STAMMDATENMANAGEMENT</a:t>
            </a:r>
          </a:p>
        </p:txBody>
      </p:sp>
    </p:spTree>
    <p:extLst>
      <p:ext uri="{BB962C8B-B14F-4D97-AF65-F5344CB8AC3E}">
        <p14:creationId xmlns:p14="http://schemas.microsoft.com/office/powerpoint/2010/main" val="2962913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ildplatzhalter 15" descr="Ein Bild, das drinnen, Computer, sitzend, Tisch enthält.&#10;&#10;Automatisch generierte Beschreibung">
            <a:extLst>
              <a:ext uri="{FF2B5EF4-FFF2-40B4-BE49-F238E27FC236}">
                <a16:creationId xmlns:a16="http://schemas.microsoft.com/office/drawing/2014/main" id="{39270919-6E29-204F-B708-82B2CAC60038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70" b="70"/>
          <a:stretch>
            <a:fillRect/>
          </a:stretch>
        </p:blipFill>
        <p:spPr/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17B28DEC-59F7-B541-A2AC-BF06AB205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3100" b="1">
                <a:solidFill>
                  <a:schemeClr val="tx1">
                    <a:lumMod val="50000"/>
                    <a:lumOff val="50000"/>
                  </a:schemeClr>
                </a:solidFill>
                <a:latin typeface="Metropolis" pitchFamily="2" charset="77"/>
              </a:rPr>
              <a:t>Unsere FokusBRANCHEN</a:t>
            </a:r>
            <a:endParaRPr lang="de-DE" sz="3100">
              <a:latin typeface="Metropolis" pitchFamily="2" charset="77"/>
            </a:endParaRP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3C95F71-9364-6743-993A-155C1055E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err="1"/>
              <a:t>cimt</a:t>
            </a:r>
            <a:r>
              <a:rPr lang="de-DE"/>
              <a:t> - Unternehmensvorstellung</a:t>
            </a:r>
            <a:endParaRPr lang="en-US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94E1A1A-6110-2B40-9B82-2793F87F6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591AF65F-6B3C-1247-BF90-E972763C07C7}"/>
              </a:ext>
            </a:extLst>
          </p:cNvPr>
          <p:cNvSpPr/>
          <p:nvPr/>
        </p:nvSpPr>
        <p:spPr>
          <a:xfrm>
            <a:off x="4588133" y="5684113"/>
            <a:ext cx="5252283" cy="481191"/>
          </a:xfrm>
          <a:prstGeom prst="rect">
            <a:avLst/>
          </a:prstGeom>
          <a:solidFill>
            <a:srgbClr val="A8A3A3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b="1">
                <a:latin typeface="Metropolis Semi" pitchFamily="2" charset="77"/>
              </a:rPr>
              <a:t>MASCHINEN- UND ANLAGENBAU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3A55F1B9-0FCE-A04E-B83A-109E2593A2F1}"/>
              </a:ext>
            </a:extLst>
          </p:cNvPr>
          <p:cNvSpPr/>
          <p:nvPr/>
        </p:nvSpPr>
        <p:spPr>
          <a:xfrm>
            <a:off x="4588133" y="5073467"/>
            <a:ext cx="5088675" cy="481191"/>
          </a:xfrm>
          <a:prstGeom prst="rect">
            <a:avLst/>
          </a:prstGeom>
          <a:solidFill>
            <a:srgbClr val="A8A3A3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b="1">
                <a:latin typeface="Metropolis Semi" pitchFamily="2" charset="77"/>
              </a:rPr>
              <a:t>MEDIZIN- &amp; BIO-TECHNOLOGIE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BF672AEF-33AE-8447-A895-C5F464EEAFED}"/>
              </a:ext>
            </a:extLst>
          </p:cNvPr>
          <p:cNvSpPr/>
          <p:nvPr/>
        </p:nvSpPr>
        <p:spPr>
          <a:xfrm>
            <a:off x="4588133" y="4462823"/>
            <a:ext cx="4126261" cy="481191"/>
          </a:xfrm>
          <a:prstGeom prst="rect">
            <a:avLst/>
          </a:prstGeom>
          <a:solidFill>
            <a:srgbClr val="A8A3A3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b="1">
                <a:latin typeface="Metropolis Semi" pitchFamily="2" charset="77"/>
              </a:rPr>
              <a:t>IMMOBILIENWIRTSCHAFT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5A78D7AE-1BAF-F74B-803E-DB4C0E895254}"/>
              </a:ext>
            </a:extLst>
          </p:cNvPr>
          <p:cNvSpPr/>
          <p:nvPr/>
        </p:nvSpPr>
        <p:spPr>
          <a:xfrm>
            <a:off x="4588133" y="3852179"/>
            <a:ext cx="2364956" cy="481191"/>
          </a:xfrm>
          <a:prstGeom prst="rect">
            <a:avLst/>
          </a:prstGeom>
          <a:solidFill>
            <a:srgbClr val="A8A3A3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b="1">
                <a:latin typeface="Metropolis Semi" pitchFamily="2" charset="77"/>
              </a:rPr>
              <a:t>AUTOMOTIVE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9A41B623-A2D6-834B-A09E-FCBE9D27EA81}"/>
              </a:ext>
            </a:extLst>
          </p:cNvPr>
          <p:cNvSpPr/>
          <p:nvPr/>
        </p:nvSpPr>
        <p:spPr>
          <a:xfrm>
            <a:off x="4588133" y="3241535"/>
            <a:ext cx="1520378" cy="481191"/>
          </a:xfrm>
          <a:prstGeom prst="rect">
            <a:avLst/>
          </a:prstGeom>
          <a:solidFill>
            <a:srgbClr val="A8A3A3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b="1">
                <a:latin typeface="Metropolis Semi" pitchFamily="2" charset="77"/>
              </a:rPr>
              <a:t>HANDEL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AE168783-B80A-5F49-A45C-D5B50A764175}"/>
              </a:ext>
            </a:extLst>
          </p:cNvPr>
          <p:cNvSpPr txBox="1"/>
          <p:nvPr/>
        </p:nvSpPr>
        <p:spPr>
          <a:xfrm>
            <a:off x="6108510" y="866776"/>
            <a:ext cx="593108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000">
                <a:solidFill>
                  <a:schemeClr val="bg1">
                    <a:lumMod val="65000"/>
                  </a:schemeClr>
                </a:solidFill>
                <a:latin typeface="Metropolis Thin" pitchFamily="2" charset="77"/>
              </a:rPr>
              <a:t>Wir haben spezielles Knowhow</a:t>
            </a:r>
            <a:br>
              <a:rPr lang="de-DE" sz="3000">
                <a:solidFill>
                  <a:schemeClr val="bg1">
                    <a:lumMod val="65000"/>
                  </a:schemeClr>
                </a:solidFill>
                <a:latin typeface="Metropolis Thin" pitchFamily="2" charset="77"/>
              </a:rPr>
            </a:br>
            <a:r>
              <a:rPr lang="de-DE" sz="3000">
                <a:solidFill>
                  <a:schemeClr val="bg1">
                    <a:lumMod val="65000"/>
                  </a:schemeClr>
                </a:solidFill>
                <a:latin typeface="Metropolis Thin" pitchFamily="2" charset="77"/>
              </a:rPr>
              <a:t>in wichtigen Schlüsselbranchen  </a:t>
            </a:r>
          </a:p>
        </p:txBody>
      </p:sp>
    </p:spTree>
    <p:extLst>
      <p:ext uri="{BB962C8B-B14F-4D97-AF65-F5344CB8AC3E}">
        <p14:creationId xmlns:p14="http://schemas.microsoft.com/office/powerpoint/2010/main" val="26051944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ildplatzhalter 15" descr="Ein Bild, das drinnen, Computer, sitzend, Tisch enthält.&#10;&#10;Automatisch generierte Beschreibung">
            <a:extLst>
              <a:ext uri="{FF2B5EF4-FFF2-40B4-BE49-F238E27FC236}">
                <a16:creationId xmlns:a16="http://schemas.microsoft.com/office/drawing/2014/main" id="{39270919-6E29-204F-B708-82B2CAC60038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70" b="70"/>
          <a:stretch>
            <a:fillRect/>
          </a:stretch>
        </p:blipFill>
        <p:spPr/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17B28DEC-59F7-B541-A2AC-BF06AB205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3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etropolis" pitchFamily="2" charset="77"/>
              </a:rPr>
              <a:t>Unsere RATECARD</a:t>
            </a:r>
            <a:endParaRPr lang="de-DE" sz="3100" dirty="0">
              <a:latin typeface="Metropolis" pitchFamily="2" charset="77"/>
            </a:endParaRP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3C95F71-9364-6743-993A-155C1055E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err="1"/>
              <a:t>cimt</a:t>
            </a:r>
            <a:r>
              <a:rPr lang="de-DE"/>
              <a:t> - Unternehmensvorstellung</a:t>
            </a:r>
            <a:endParaRPr lang="en-US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94E1A1A-6110-2B40-9B82-2793F87F6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AE168783-B80A-5F49-A45C-D5B50A764175}"/>
              </a:ext>
            </a:extLst>
          </p:cNvPr>
          <p:cNvSpPr txBox="1"/>
          <p:nvPr/>
        </p:nvSpPr>
        <p:spPr>
          <a:xfrm>
            <a:off x="6108510" y="866776"/>
            <a:ext cx="593108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000" dirty="0">
                <a:solidFill>
                  <a:schemeClr val="bg1">
                    <a:lumMod val="65000"/>
                  </a:schemeClr>
                </a:solidFill>
                <a:latin typeface="Metropolis Thin" pitchFamily="2" charset="77"/>
              </a:rPr>
              <a:t>Wir stellen unsere Teams passgenau zu den Kundenanforderungen zusammen</a:t>
            </a:r>
          </a:p>
        </p:txBody>
      </p:sp>
    </p:spTree>
    <p:extLst>
      <p:ext uri="{BB962C8B-B14F-4D97-AF65-F5344CB8AC3E}">
        <p14:creationId xmlns:p14="http://schemas.microsoft.com/office/powerpoint/2010/main" val="30837941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B4F47F-72D6-437F-8675-D4376F232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3100" b="1">
                <a:solidFill>
                  <a:schemeClr val="tx1">
                    <a:lumMod val="50000"/>
                    <a:lumOff val="50000"/>
                  </a:schemeClr>
                </a:solidFill>
                <a:latin typeface="Metropolis" pitchFamily="2" charset="77"/>
              </a:rPr>
              <a:t>Referenzauszug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ECB6556B-1395-421A-929C-DF8955851A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8458" y="4959112"/>
            <a:ext cx="1264129" cy="1079951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411447E-ABEF-4066-95F9-8E7257F696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4702" y="2051625"/>
            <a:ext cx="1438275" cy="828675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F389F343-939D-4CE5-BC10-A58CE4686779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87525" y="1925987"/>
            <a:ext cx="1079951" cy="1079951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471EDB6E-8324-4100-915E-39244FBB3393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49066" y="3641442"/>
            <a:ext cx="1522056" cy="761028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79350455-10C6-4D3F-9218-9E31303EC457}"/>
              </a:ext>
            </a:extLst>
          </p:cNvPr>
          <p:cNvPicPr>
            <a:picLocks noChangeAspect="1"/>
          </p:cNvPicPr>
          <p:nvPr/>
        </p:nvPicPr>
        <p:blipFill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897551" y="1986090"/>
            <a:ext cx="1522056" cy="959744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1A92631D-2E74-4AC9-A14F-56E38C7AB0F4}"/>
              </a:ext>
            </a:extLst>
          </p:cNvPr>
          <p:cNvPicPr>
            <a:picLocks noChangeAspect="1"/>
          </p:cNvPicPr>
          <p:nvPr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66212" y="3460288"/>
            <a:ext cx="1532819" cy="1123337"/>
          </a:xfrm>
          <a:prstGeom prst="rect">
            <a:avLst/>
          </a:prstGeom>
        </p:spPr>
      </p:pic>
      <p:sp>
        <p:nvSpPr>
          <p:cNvPr id="22" name="Titel 5">
            <a:extLst>
              <a:ext uri="{FF2B5EF4-FFF2-40B4-BE49-F238E27FC236}">
                <a16:creationId xmlns:a16="http://schemas.microsoft.com/office/drawing/2014/main" id="{D295F035-0AD2-4F28-A50B-F4D24DCB593C}"/>
              </a:ext>
            </a:extLst>
          </p:cNvPr>
          <p:cNvSpPr txBox="1">
            <a:spLocks/>
          </p:cNvSpPr>
          <p:nvPr/>
        </p:nvSpPr>
        <p:spPr>
          <a:xfrm>
            <a:off x="324558" y="891560"/>
            <a:ext cx="11501247" cy="5387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000" kern="1200" cap="all" spc="100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000">
                <a:solidFill>
                  <a:schemeClr val="bg1">
                    <a:lumMod val="65000"/>
                  </a:schemeClr>
                </a:solidFill>
                <a:latin typeface="Metropolis Thin" pitchFamily="2" charset="77"/>
                <a:ea typeface="+mn-ea"/>
                <a:cs typeface="+mn-cs"/>
              </a:rPr>
              <a:t>Wir haben Top-Referenzen in Schlüsselbranchen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9B8356A-5CE3-824C-AC57-80CA32DF93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err="1"/>
              <a:t>cimt</a:t>
            </a:r>
            <a:r>
              <a:rPr lang="de-DE"/>
              <a:t> - Unternehmensvorstellung</a:t>
            </a:r>
            <a:endParaRPr lang="en-US"/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64F9C682-1523-8043-B154-2166B8D82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9</a:t>
            </a:fld>
            <a:endParaRPr lang="en-US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8D3E81F-1A7F-4691-8B8E-BC79FF332416}"/>
              </a:ext>
            </a:extLst>
          </p:cNvPr>
          <p:cNvPicPr>
            <a:picLocks noChangeAspect="1"/>
          </p:cNvPicPr>
          <p:nvPr/>
        </p:nvPicPr>
        <p:blipFill>
          <a:blip r:embed="rId9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001251" y="3718544"/>
            <a:ext cx="1518237" cy="511964"/>
          </a:xfrm>
          <a:prstGeom prst="rect">
            <a:avLst/>
          </a:prstGeom>
        </p:spPr>
      </p:pic>
      <p:pic>
        <p:nvPicPr>
          <p:cNvPr id="21" name="Grafik 20">
            <a:extLst>
              <a:ext uri="{FF2B5EF4-FFF2-40B4-BE49-F238E27FC236}">
                <a16:creationId xmlns:a16="http://schemas.microsoft.com/office/drawing/2014/main" id="{7D34D848-0E24-4A15-96A0-882767F6F48E}"/>
              </a:ext>
            </a:extLst>
          </p:cNvPr>
          <p:cNvPicPr>
            <a:picLocks noChangeAspect="1"/>
          </p:cNvPicPr>
          <p:nvPr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72024" y="2077981"/>
            <a:ext cx="1420980" cy="775962"/>
          </a:xfrm>
          <a:prstGeom prst="rect">
            <a:avLst/>
          </a:prstGeom>
        </p:spPr>
      </p:pic>
      <p:pic>
        <p:nvPicPr>
          <p:cNvPr id="23" name="Grafik 22" descr="Ein Bild, das Uhr enthält.&#10;&#10;Automatisch generierte Beschreibung">
            <a:extLst>
              <a:ext uri="{FF2B5EF4-FFF2-40B4-BE49-F238E27FC236}">
                <a16:creationId xmlns:a16="http://schemas.microsoft.com/office/drawing/2014/main" id="{9451292E-4F3A-4BC5-A0FA-3C7351F6698D}"/>
              </a:ext>
            </a:extLst>
          </p:cNvPr>
          <p:cNvPicPr>
            <a:picLocks noChangeAspect="1"/>
          </p:cNvPicPr>
          <p:nvPr/>
        </p:nvPicPr>
        <p:blipFill>
          <a:blip r:embed="rId11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04241" y="5270634"/>
            <a:ext cx="2064067" cy="395075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48161C1C-FBBD-4D83-AEB9-F2574288D0C6}"/>
              </a:ext>
            </a:extLst>
          </p:cNvPr>
          <p:cNvPicPr>
            <a:picLocks noChangeAspect="1"/>
          </p:cNvPicPr>
          <p:nvPr/>
        </p:nvPicPr>
        <p:blipFill>
          <a:blip r:embed="rId1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81830" y="5080428"/>
            <a:ext cx="2193167" cy="761028"/>
          </a:xfrm>
          <a:prstGeom prst="rect">
            <a:avLst/>
          </a:prstGeom>
        </p:spPr>
      </p:pic>
      <p:pic>
        <p:nvPicPr>
          <p:cNvPr id="26" name="Grafik 25" descr="Ein Bild, das Zeichnung, rot, Essen, Schild enthält.&#10;&#10;Automatisch generierte Beschreibung">
            <a:extLst>
              <a:ext uri="{FF2B5EF4-FFF2-40B4-BE49-F238E27FC236}">
                <a16:creationId xmlns:a16="http://schemas.microsoft.com/office/drawing/2014/main" id="{3F76A4DE-E890-42E7-B831-71E8CAA8F350}"/>
              </a:ext>
            </a:extLst>
          </p:cNvPr>
          <p:cNvPicPr>
            <a:picLocks noChangeAspect="1"/>
          </p:cNvPicPr>
          <p:nvPr/>
        </p:nvPicPr>
        <p:blipFill>
          <a:blip r:embed="rId1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97551" y="4862255"/>
            <a:ext cx="1526588" cy="1228903"/>
          </a:xfrm>
          <a:prstGeom prst="rect">
            <a:avLst/>
          </a:prstGeom>
        </p:spPr>
      </p:pic>
      <p:pic>
        <p:nvPicPr>
          <p:cNvPr id="28" name="Grafik 27" descr="Ein Bild, das Zeichnung enthält.&#10;&#10;Automatisch generierte Beschreibung">
            <a:extLst>
              <a:ext uri="{FF2B5EF4-FFF2-40B4-BE49-F238E27FC236}">
                <a16:creationId xmlns:a16="http://schemas.microsoft.com/office/drawing/2014/main" id="{3DA506CD-95A3-4E05-A028-081D447ECB23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121157" y="3626365"/>
            <a:ext cx="2430060" cy="791182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C02568BB-365E-4313-825B-0B43552F350F}"/>
              </a:ext>
            </a:extLst>
          </p:cNvPr>
          <p:cNvPicPr>
            <a:picLocks noChangeAspect="1"/>
          </p:cNvPicPr>
          <p:nvPr/>
        </p:nvPicPr>
        <p:blipFill>
          <a:blip r:embed="rId1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7846" y="2049750"/>
            <a:ext cx="1232308" cy="83242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DDF1C3A9-A347-4972-8534-E465D3F45FCA}"/>
              </a:ext>
            </a:extLst>
          </p:cNvPr>
          <p:cNvPicPr>
            <a:picLocks noChangeAspect="1"/>
          </p:cNvPicPr>
          <p:nvPr/>
        </p:nvPicPr>
        <p:blipFill rotWithShape="1">
          <a:blip r:embed="rId1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31824" y="3601736"/>
            <a:ext cx="1984353" cy="920862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78B44AC3-7885-43F9-9A12-E288A0A13C74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88787" y="5355828"/>
            <a:ext cx="1870427" cy="342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5747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Bildplatzhalter 13">
            <a:extLst>
              <a:ext uri="{FF2B5EF4-FFF2-40B4-BE49-F238E27FC236}">
                <a16:creationId xmlns:a16="http://schemas.microsoft.com/office/drawing/2014/main" id="{CAB4818F-1820-C641-873F-45AFEF047EFA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70" b="70"/>
          <a:stretch>
            <a:fillRect/>
          </a:stretch>
        </p:blipFill>
        <p:spPr/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17B28DEC-59F7-B541-A2AC-BF06AB205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etropolis" pitchFamily="2" charset="77"/>
              </a:rPr>
              <a:t>Unsere RATECARD</a:t>
            </a:r>
            <a:endParaRPr lang="de-DE" sz="3100" dirty="0">
              <a:latin typeface="Metropolis" pitchFamily="2" charset="77"/>
            </a:endParaRP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3C95F71-9364-6743-993A-155C1055E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err="1"/>
              <a:t>cimt</a:t>
            </a:r>
            <a:r>
              <a:rPr lang="de-DE"/>
              <a:t> - Unternehmensvorstellung</a:t>
            </a:r>
            <a:endParaRPr lang="en-US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94E1A1A-6110-2B40-9B82-2793F87F6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799BCBF6-B510-564D-9C60-BE0B8D1A0621}"/>
              </a:ext>
            </a:extLst>
          </p:cNvPr>
          <p:cNvSpPr txBox="1"/>
          <p:nvPr/>
        </p:nvSpPr>
        <p:spPr>
          <a:xfrm>
            <a:off x="2409042" y="1825997"/>
            <a:ext cx="759220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chemeClr val="bg1">
                    <a:lumMod val="65000"/>
                  </a:schemeClr>
                </a:solidFill>
                <a:latin typeface="Metropolis Thin" pitchFamily="2" charset="77"/>
              </a:rPr>
              <a:t>Wir stellen unsere Teams passgenau zu den Kundenanforderungen zusammen</a:t>
            </a:r>
          </a:p>
        </p:txBody>
      </p:sp>
      <p:graphicFrame>
        <p:nvGraphicFramePr>
          <p:cNvPr id="5" name="Tabelle 5">
            <a:extLst>
              <a:ext uri="{FF2B5EF4-FFF2-40B4-BE49-F238E27FC236}">
                <a16:creationId xmlns:a16="http://schemas.microsoft.com/office/drawing/2014/main" id="{6D7B3A74-9DC1-4F70-926D-BA49B89DDF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6176002"/>
              </p:ext>
            </p:extLst>
          </p:nvPr>
        </p:nvGraphicFramePr>
        <p:xfrm>
          <a:off x="2993469" y="3429000"/>
          <a:ext cx="6133811" cy="1854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158445">
                  <a:extLst>
                    <a:ext uri="{9D8B030D-6E8A-4147-A177-3AD203B41FA5}">
                      <a16:colId xmlns:a16="http://schemas.microsoft.com/office/drawing/2014/main" val="184002840"/>
                    </a:ext>
                  </a:extLst>
                </a:gridCol>
                <a:gridCol w="1975366">
                  <a:extLst>
                    <a:ext uri="{9D8B030D-6E8A-4147-A177-3AD203B41FA5}">
                      <a16:colId xmlns:a16="http://schemas.microsoft.com/office/drawing/2014/main" val="3640271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Stufe</a:t>
                      </a:r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Stundensatz</a:t>
                      </a:r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0816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Senior </a:t>
                      </a:r>
                      <a:r>
                        <a:rPr lang="de-DE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Advisor</a:t>
                      </a:r>
                      <a:r>
                        <a:rPr lang="de-DE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 / Projektmanager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150,00 €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09255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Senior Consultant / Senior Developer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140,00 €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95848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Consultant / Developer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125,00 €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0480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Junior Consultant / Junior Developer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115,00 €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35024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30084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046175-0381-4A0F-B5DD-1D6C60B64A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sz="4400" dirty="0">
                <a:solidFill>
                  <a:schemeClr val="tx1">
                    <a:lumMod val="50000"/>
                    <a:lumOff val="50000"/>
                  </a:schemeClr>
                </a:solidFill>
                <a:latin typeface="Metropolis Medium" pitchFamily="2" charset="77"/>
              </a:rPr>
              <a:t>Harald Ruso</a:t>
            </a:r>
            <a:br>
              <a:rPr lang="de-DE" dirty="0"/>
            </a:br>
            <a:r>
              <a:rPr lang="de-DE" sz="1800" dirty="0">
                <a:solidFill>
                  <a:schemeClr val="tx1">
                    <a:lumMod val="50000"/>
                    <a:lumOff val="50000"/>
                  </a:schemeClr>
                </a:solidFill>
                <a:latin typeface="Metropolis Medium" pitchFamily="2" charset="77"/>
              </a:rPr>
              <a:t>Leiter Vertrieb SAP</a:t>
            </a:r>
            <a:br>
              <a:rPr lang="de-DE" sz="1800" dirty="0">
                <a:solidFill>
                  <a:schemeClr val="tx1">
                    <a:lumMod val="50000"/>
                    <a:lumOff val="50000"/>
                  </a:schemeClr>
                </a:solidFill>
                <a:latin typeface="Metropolis Medium" pitchFamily="2" charset="77"/>
              </a:rPr>
            </a:br>
            <a:br>
              <a:rPr lang="de-DE" sz="1800" dirty="0">
                <a:solidFill>
                  <a:schemeClr val="tx1">
                    <a:lumMod val="50000"/>
                    <a:lumOff val="50000"/>
                  </a:schemeClr>
                </a:solidFill>
                <a:latin typeface="Metropolis Medium" pitchFamily="2" charset="77"/>
              </a:rPr>
            </a:br>
            <a:r>
              <a:rPr lang="de-DE" sz="1200" u="sng" dirty="0">
                <a:solidFill>
                  <a:srgbClr val="002060"/>
                </a:solidFill>
                <a:latin typeface="Metropolis Medium" pitchFamily="2" charset="77"/>
              </a:rPr>
              <a:t>harald.ruso@cimt-ag.de</a:t>
            </a:r>
            <a:endParaRPr lang="de-DE" u="sng" dirty="0">
              <a:solidFill>
                <a:srgbClr val="002060"/>
              </a:solidFill>
              <a:latin typeface="Metropolis Medium" pitchFamily="2" charset="77"/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4D8BC9C-1808-3647-A4CC-A10041D56A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E5644-1E61-4311-A31E-84CB9C7AA8A9}" type="slidenum">
              <a:rPr lang="en-US" smtClean="0"/>
              <a:t>11</a:t>
            </a:fld>
            <a:endParaRPr lang="en-US"/>
          </a:p>
        </p:txBody>
      </p:sp>
      <p:sp>
        <p:nvSpPr>
          <p:cNvPr id="9" name="Fußzeilenplatzhalter 2">
            <a:extLst>
              <a:ext uri="{FF2B5EF4-FFF2-40B4-BE49-F238E27FC236}">
                <a16:creationId xmlns:a16="http://schemas.microsoft.com/office/drawing/2014/main" id="{34B6F1D0-495D-C548-B8CD-5BC82FA12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9752" y="6470704"/>
            <a:ext cx="9691499" cy="274320"/>
          </a:xfrm>
        </p:spPr>
        <p:txBody>
          <a:bodyPr/>
          <a:lstStyle/>
          <a:p>
            <a:r>
              <a:rPr lang="de-DE" err="1"/>
              <a:t>cimt</a:t>
            </a:r>
            <a:r>
              <a:rPr lang="de-DE"/>
              <a:t> - Unternehmensvorstellung</a:t>
            </a:r>
            <a:endParaRPr lang="en-US"/>
          </a:p>
        </p:txBody>
      </p:sp>
      <p:pic>
        <p:nvPicPr>
          <p:cNvPr id="7" name="Bildplatzhalter 6" descr="Ein Bild, das Sonnenuntergang, Wasser, surfend, Sonne enthält.&#10;&#10;Automatisch generierte Beschreibung">
            <a:extLst>
              <a:ext uri="{FF2B5EF4-FFF2-40B4-BE49-F238E27FC236}">
                <a16:creationId xmlns:a16="http://schemas.microsoft.com/office/drawing/2014/main" id="{077CB233-300F-D148-B261-22338CCEF76D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15833696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mtDesignPP">
  <a:themeElements>
    <a:clrScheme name="Benutzerdefiniert 1">
      <a:dk1>
        <a:sysClr val="windowText" lastClr="000000"/>
      </a:dk1>
      <a:lt1>
        <a:sysClr val="window" lastClr="FFFFFF"/>
      </a:lt1>
      <a:dk2>
        <a:srgbClr val="505046"/>
      </a:dk2>
      <a:lt2>
        <a:srgbClr val="EEECE1"/>
      </a:lt2>
      <a:accent1>
        <a:srgbClr val="E84C22"/>
      </a:accent1>
      <a:accent2>
        <a:srgbClr val="FFBD47"/>
      </a:accent2>
      <a:accent3>
        <a:srgbClr val="B64926"/>
      </a:accent3>
      <a:accent4>
        <a:srgbClr val="FF8427"/>
      </a:accent4>
      <a:accent5>
        <a:srgbClr val="CC9900"/>
      </a:accent5>
      <a:accent6>
        <a:srgbClr val="B22600"/>
      </a:accent6>
      <a:hlink>
        <a:srgbClr val="CC9900"/>
      </a:hlink>
      <a:folHlink>
        <a:srgbClr val="666699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mtDesignPP" id="{77736D28-3D1D-43EB-97D9-34ADAF178B94}" vid="{B362068C-EFD6-4B14-8C9B-BA327C945D67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8EB0AEDCA1A3F74FBC3058E7E0EAD70A" ma:contentTypeVersion="16" ma:contentTypeDescription="Ein neues Dokument erstellen." ma:contentTypeScope="" ma:versionID="1219cea9cc15c8b741ce13d01fef48df">
  <xsd:schema xmlns:xsd="http://www.w3.org/2001/XMLSchema" xmlns:xs="http://www.w3.org/2001/XMLSchema" xmlns:p="http://schemas.microsoft.com/office/2006/metadata/properties" xmlns:ns2="7cc591fe-e486-49ad-9e7a-06d6e2954b0c" xmlns:ns3="5027abfa-dc92-4337-bbf9-5357b5beb06e" targetNamespace="http://schemas.microsoft.com/office/2006/metadata/properties" ma:root="true" ma:fieldsID="98169a37f94d222fcedb3919e64374d7" ns2:_="" ns3:_="">
    <xsd:import namespace="7cc591fe-e486-49ad-9e7a-06d6e2954b0c"/>
    <xsd:import namespace="5027abfa-dc92-4337-bbf9-5357b5beb06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AutoKeyPoints" minOccurs="0"/>
                <xsd:element ref="ns2:MediaServiceKeyPoint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cc591fe-e486-49ad-9e7a-06d6e2954b0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6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Bildmarkierungen" ma:readOnly="false" ma:fieldId="{5cf76f15-5ced-4ddc-b409-7134ff3c332f}" ma:taxonomyMulti="true" ma:sspId="3a4d7b46-b7eb-41f5-be41-8b295aff73a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AutoKeyPoints" ma:index="2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027abfa-dc92-4337-bbf9-5357b5beb06e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c3e6d13a-c102-48d6-ac35-6876ec944e68}" ma:internalName="TaxCatchAll" ma:showField="CatchAllData" ma:web="5027abfa-dc92-4337-bbf9-5357b5beb06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5027abfa-dc92-4337-bbf9-5357b5beb06e">
      <UserInfo>
        <DisplayName>Armin Rabet</DisplayName>
        <AccountId>13</AccountId>
        <AccountType/>
      </UserInfo>
    </SharedWithUsers>
    <lcf76f155ced4ddcb4097134ff3c332f xmlns="7cc591fe-e486-49ad-9e7a-06d6e2954b0c">
      <Terms xmlns="http://schemas.microsoft.com/office/infopath/2007/PartnerControls"/>
    </lcf76f155ced4ddcb4097134ff3c332f>
    <TaxCatchAll xmlns="5027abfa-dc92-4337-bbf9-5357b5beb06e" xsi:nil="true"/>
  </documentManagement>
</p:properties>
</file>

<file path=customXml/itemProps1.xml><?xml version="1.0" encoding="utf-8"?>
<ds:datastoreItem xmlns:ds="http://schemas.openxmlformats.org/officeDocument/2006/customXml" ds:itemID="{FB4205CB-FA3F-4417-90D9-0D22CC2C943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C697D9E-2AEC-4FE4-82BD-759F1F7640D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cc591fe-e486-49ad-9e7a-06d6e2954b0c"/>
    <ds:schemaRef ds:uri="5027abfa-dc92-4337-bbf9-5357b5beb06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D23016C-4911-45AA-BE7D-9215D90AA201}">
  <ds:schemaRefs>
    <ds:schemaRef ds:uri="http://www.w3.org/XML/1998/namespace"/>
    <ds:schemaRef ds:uri="http://purl.org/dc/dcmitype/"/>
    <ds:schemaRef ds:uri="http://schemas.microsoft.com/office/2006/documentManagement/types"/>
    <ds:schemaRef ds:uri="7cc591fe-e486-49ad-9e7a-06d6e2954b0c"/>
    <ds:schemaRef ds:uri="http://schemas.microsoft.com/office/2006/metadata/properties"/>
    <ds:schemaRef ds:uri="http://purl.org/dc/terms/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5027abfa-dc92-4337-bbf9-5357b5beb06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cimtDesignPP</Template>
  <TotalTime>0</TotalTime>
  <Words>441</Words>
  <Application>Microsoft Office PowerPoint</Application>
  <PresentationFormat>Breitbild</PresentationFormat>
  <Paragraphs>131</Paragraphs>
  <Slides>11</Slides>
  <Notes>10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20" baseType="lpstr">
      <vt:lpstr>Calibri</vt:lpstr>
      <vt:lpstr>Metropolis</vt:lpstr>
      <vt:lpstr>Metropolis Medium</vt:lpstr>
      <vt:lpstr>Metropolis Semi</vt:lpstr>
      <vt:lpstr>Metropolis Thin</vt:lpstr>
      <vt:lpstr>Tw Cen MT</vt:lpstr>
      <vt:lpstr>Tw Cen MT Condensed</vt:lpstr>
      <vt:lpstr>Wingdings 3</vt:lpstr>
      <vt:lpstr>cimtDesignPP</vt:lpstr>
      <vt:lpstr>VORSTELLUNG CIMT AG APRIL 2020</vt:lpstr>
      <vt:lpstr>Cimt AG: Daten &amp; Fakten</vt:lpstr>
      <vt:lpstr>WARUM CIMT DER RICHTIGE PARTNER IST!</vt:lpstr>
      <vt:lpstr>Die Themen der CIMT</vt:lpstr>
      <vt:lpstr>Cimt SAP-EXPERTISE</vt:lpstr>
      <vt:lpstr>UnserE FOKUSTHEMEN</vt:lpstr>
      <vt:lpstr>Unsere FokusBRANCHEN</vt:lpstr>
      <vt:lpstr>Unsere RATECARD</vt:lpstr>
      <vt:lpstr>Referenzauszug</vt:lpstr>
      <vt:lpstr>Unsere RATECARD</vt:lpstr>
      <vt:lpstr>Harald Ruso Leiter Vertrieb SAP  harald.ruso@cimt-ag.de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Armin Rabet</dc:creator>
  <cp:lastModifiedBy>Andre Eisele</cp:lastModifiedBy>
  <cp:revision>5</cp:revision>
  <cp:lastPrinted>2019-11-28T07:40:40Z</cp:lastPrinted>
  <dcterms:created xsi:type="dcterms:W3CDTF">2019-08-22T09:36:34Z</dcterms:created>
  <dcterms:modified xsi:type="dcterms:W3CDTF">2026-07-14T19:19:59Z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0x0101008EB0AEDCA1A3F74FBC3058E7E0EAD70A</vt:lpwstr>
  </property>
  <property fmtid="{D5CDD505-2E9C-101B-9397-08002B2CF9AE}" pid="3" name="MediaServiceImageTags">
    <vt:lpwstr/>
  </property>
</Properties>
</file>